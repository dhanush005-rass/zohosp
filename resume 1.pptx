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6" r:id="rId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47587"/>
    <a:srgbClr val="293A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2774" y="1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1FDE7F7-529C-488E-9F52-1D39BDEDF9FD}" type="datetimeFigureOut">
              <a:rPr lang="en-IN" smtClean="0"/>
              <a:t>29-06-2025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48346A-9B8E-4C79-B1D0-4974D8F9DC3F}" type="slidenum">
              <a:rPr lang="en-IN" smtClean="0"/>
              <a:t>‹#›</a:t>
            </a:fld>
            <a:endParaRPr lang="en-IN"/>
          </a:p>
        </p:txBody>
      </p:sp>
    </p:spTree>
    <p:extLst>
      <p:ext uri="{BB962C8B-B14F-4D97-AF65-F5344CB8AC3E}">
        <p14:creationId xmlns:p14="http://schemas.microsoft.com/office/powerpoint/2010/main" val="832268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FDE7F7-529C-488E-9F52-1D39BDEDF9FD}" type="datetimeFigureOut">
              <a:rPr lang="en-IN" smtClean="0"/>
              <a:t>29-06-2025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48346A-9B8E-4C79-B1D0-4974D8F9DC3F}" type="slidenum">
              <a:rPr lang="en-IN" smtClean="0"/>
              <a:t>‹#›</a:t>
            </a:fld>
            <a:endParaRPr lang="en-IN"/>
          </a:p>
        </p:txBody>
      </p:sp>
    </p:spTree>
    <p:extLst>
      <p:ext uri="{BB962C8B-B14F-4D97-AF65-F5344CB8AC3E}">
        <p14:creationId xmlns:p14="http://schemas.microsoft.com/office/powerpoint/2010/main" val="4220990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FDE7F7-529C-488E-9F52-1D39BDEDF9FD}" type="datetimeFigureOut">
              <a:rPr lang="en-IN" smtClean="0"/>
              <a:t>29-06-2025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48346A-9B8E-4C79-B1D0-4974D8F9DC3F}" type="slidenum">
              <a:rPr lang="en-IN" smtClean="0"/>
              <a:t>‹#›</a:t>
            </a:fld>
            <a:endParaRPr lang="en-IN"/>
          </a:p>
        </p:txBody>
      </p:sp>
    </p:spTree>
    <p:extLst>
      <p:ext uri="{BB962C8B-B14F-4D97-AF65-F5344CB8AC3E}">
        <p14:creationId xmlns:p14="http://schemas.microsoft.com/office/powerpoint/2010/main" val="167581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1FDE7F7-529C-488E-9F52-1D39BDEDF9FD}" type="datetimeFigureOut">
              <a:rPr lang="en-IN" smtClean="0"/>
              <a:t>29-06-2025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48346A-9B8E-4C79-B1D0-4974D8F9DC3F}" type="slidenum">
              <a:rPr lang="en-IN" smtClean="0"/>
              <a:t>‹#›</a:t>
            </a:fld>
            <a:endParaRPr lang="en-IN"/>
          </a:p>
        </p:txBody>
      </p:sp>
    </p:spTree>
    <p:extLst>
      <p:ext uri="{BB962C8B-B14F-4D97-AF65-F5344CB8AC3E}">
        <p14:creationId xmlns:p14="http://schemas.microsoft.com/office/powerpoint/2010/main" val="2576813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FDE7F7-529C-488E-9F52-1D39BDEDF9FD}" type="datetimeFigureOut">
              <a:rPr lang="en-IN" smtClean="0"/>
              <a:t>29-06-2025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C48346A-9B8E-4C79-B1D0-4974D8F9DC3F}" type="slidenum">
              <a:rPr lang="en-IN" smtClean="0"/>
              <a:t>‹#›</a:t>
            </a:fld>
            <a:endParaRPr lang="en-IN"/>
          </a:p>
        </p:txBody>
      </p:sp>
    </p:spTree>
    <p:extLst>
      <p:ext uri="{BB962C8B-B14F-4D97-AF65-F5344CB8AC3E}">
        <p14:creationId xmlns:p14="http://schemas.microsoft.com/office/powerpoint/2010/main" val="3048412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1FDE7F7-529C-488E-9F52-1D39BDEDF9FD}" type="datetimeFigureOut">
              <a:rPr lang="en-IN" smtClean="0"/>
              <a:t>29-06-2025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C48346A-9B8E-4C79-B1D0-4974D8F9DC3F}" type="slidenum">
              <a:rPr lang="en-IN" smtClean="0"/>
              <a:t>‹#›</a:t>
            </a:fld>
            <a:endParaRPr lang="en-IN"/>
          </a:p>
        </p:txBody>
      </p:sp>
    </p:spTree>
    <p:extLst>
      <p:ext uri="{BB962C8B-B14F-4D97-AF65-F5344CB8AC3E}">
        <p14:creationId xmlns:p14="http://schemas.microsoft.com/office/powerpoint/2010/main" val="3096840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FDE7F7-529C-488E-9F52-1D39BDEDF9FD}" type="datetimeFigureOut">
              <a:rPr lang="en-IN" smtClean="0"/>
              <a:t>29-06-2025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C48346A-9B8E-4C79-B1D0-4974D8F9DC3F}" type="slidenum">
              <a:rPr lang="en-IN" smtClean="0"/>
              <a:t>‹#›</a:t>
            </a:fld>
            <a:endParaRPr lang="en-IN"/>
          </a:p>
        </p:txBody>
      </p:sp>
    </p:spTree>
    <p:extLst>
      <p:ext uri="{BB962C8B-B14F-4D97-AF65-F5344CB8AC3E}">
        <p14:creationId xmlns:p14="http://schemas.microsoft.com/office/powerpoint/2010/main" val="1697276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1FDE7F7-529C-488E-9F52-1D39BDEDF9FD}" type="datetimeFigureOut">
              <a:rPr lang="en-IN" smtClean="0"/>
              <a:t>29-06-2025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48346A-9B8E-4C79-B1D0-4974D8F9DC3F}" type="slidenum">
              <a:rPr lang="en-IN" smtClean="0"/>
              <a:t>‹#›</a:t>
            </a:fld>
            <a:endParaRPr lang="en-IN"/>
          </a:p>
        </p:txBody>
      </p:sp>
    </p:spTree>
    <p:extLst>
      <p:ext uri="{BB962C8B-B14F-4D97-AF65-F5344CB8AC3E}">
        <p14:creationId xmlns:p14="http://schemas.microsoft.com/office/powerpoint/2010/main" val="3645921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1FDE7F7-529C-488E-9F52-1D39BDEDF9FD}" type="datetimeFigureOut">
              <a:rPr lang="en-IN" smtClean="0"/>
              <a:t>29-06-2025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48346A-9B8E-4C79-B1D0-4974D8F9DC3F}" type="slidenum">
              <a:rPr lang="en-IN" smtClean="0"/>
              <a:t>‹#›</a:t>
            </a:fld>
            <a:endParaRPr lang="en-IN"/>
          </a:p>
        </p:txBody>
      </p:sp>
    </p:spTree>
    <p:extLst>
      <p:ext uri="{BB962C8B-B14F-4D97-AF65-F5344CB8AC3E}">
        <p14:creationId xmlns:p14="http://schemas.microsoft.com/office/powerpoint/2010/main" val="1392341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FDE7F7-529C-488E-9F52-1D39BDEDF9FD}" type="datetimeFigureOut">
              <a:rPr lang="en-IN" smtClean="0"/>
              <a:t>29-06-2025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48346A-9B8E-4C79-B1D0-4974D8F9DC3F}" type="slidenum">
              <a:rPr lang="en-IN" smtClean="0"/>
              <a:t>‹#›</a:t>
            </a:fld>
            <a:endParaRPr lang="en-IN"/>
          </a:p>
        </p:txBody>
      </p:sp>
    </p:spTree>
    <p:extLst>
      <p:ext uri="{BB962C8B-B14F-4D97-AF65-F5344CB8AC3E}">
        <p14:creationId xmlns:p14="http://schemas.microsoft.com/office/powerpoint/2010/main" val="1183267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FDE7F7-529C-488E-9F52-1D39BDEDF9FD}" type="datetimeFigureOut">
              <a:rPr lang="en-IN" smtClean="0"/>
              <a:t>29-06-2025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48346A-9B8E-4C79-B1D0-4974D8F9DC3F}" type="slidenum">
              <a:rPr lang="en-IN" smtClean="0"/>
              <a:t>‹#›</a:t>
            </a:fld>
            <a:endParaRPr lang="en-IN"/>
          </a:p>
        </p:txBody>
      </p:sp>
    </p:spTree>
    <p:extLst>
      <p:ext uri="{BB962C8B-B14F-4D97-AF65-F5344CB8AC3E}">
        <p14:creationId xmlns:p14="http://schemas.microsoft.com/office/powerpoint/2010/main" val="15985639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98B9B-5BAB-F0AC-5339-E7B70CF2F2F0}"/>
              </a:ext>
            </a:extLst>
          </p:cNvPr>
          <p:cNvSpPr>
            <a:spLocks noGrp="1"/>
          </p:cNvSpPr>
          <p:nvPr>
            <p:ph type="title"/>
          </p:nvPr>
        </p:nvSpPr>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DFC6BD-0063-7EA6-D53F-D254959AECB6}"/>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9C2B5B-6130-31BE-2064-E53B17008959}"/>
              </a:ext>
            </a:extLst>
          </p:cNvPr>
          <p:cNvSpPr>
            <a:spLocks noGrp="1"/>
          </p:cNvSpPr>
          <p:nvPr>
            <p:ph type="dt" sz="half" idx="10"/>
          </p:nvPr>
        </p:nvSpPr>
        <p:spPr/>
        <p:txBody>
          <a:bodyPr/>
          <a:lstStyle/>
          <a:p>
            <a:fld id="{61FDE7F7-529C-488E-9F52-1D39BDEDF9FD}" type="datetimeFigureOut">
              <a:rPr lang="en-IN" smtClean="0"/>
              <a:t>29-06-2025</a:t>
            </a:fld>
            <a:endParaRPr lang="en-IN"/>
          </a:p>
        </p:txBody>
      </p:sp>
      <p:sp>
        <p:nvSpPr>
          <p:cNvPr id="5" name="Footer Placeholder 4">
            <a:extLst>
              <a:ext uri="{FF2B5EF4-FFF2-40B4-BE49-F238E27FC236}">
                <a16:creationId xmlns:a16="http://schemas.microsoft.com/office/drawing/2014/main" id="{02589342-8053-7113-FC4A-951C4BA3BB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A7B24D-45C6-2150-65C4-3079E51A6938}"/>
              </a:ext>
            </a:extLst>
          </p:cNvPr>
          <p:cNvSpPr>
            <a:spLocks noGrp="1"/>
          </p:cNvSpPr>
          <p:nvPr>
            <p:ph type="sldNum" sz="quarter" idx="12"/>
          </p:nvPr>
        </p:nvSpPr>
        <p:spPr/>
        <p:txBody>
          <a:bodyPr/>
          <a:lstStyle/>
          <a:p>
            <a:fld id="{BC48346A-9B8E-4C79-B1D0-4974D8F9DC3F}" type="slidenum">
              <a:rPr lang="en-IN" smtClean="0"/>
              <a:t>‹#›</a:t>
            </a:fld>
            <a:endParaRPr lang="en-IN"/>
          </a:p>
        </p:txBody>
      </p:sp>
    </p:spTree>
    <p:extLst>
      <p:ext uri="{BB962C8B-B14F-4D97-AF65-F5344CB8AC3E}">
        <p14:creationId xmlns:p14="http://schemas.microsoft.com/office/powerpoint/2010/main" val="1817073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61FDE7F7-529C-488E-9F52-1D39BDEDF9FD}" type="datetimeFigureOut">
              <a:rPr lang="en-IN" smtClean="0"/>
              <a:t>29-06-2025</a:t>
            </a:fld>
            <a:endParaRPr lang="en-IN"/>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BC48346A-9B8E-4C79-B1D0-4974D8F9DC3F}" type="slidenum">
              <a:rPr lang="en-IN" smtClean="0"/>
              <a:t>‹#›</a:t>
            </a:fld>
            <a:endParaRPr lang="en-IN"/>
          </a:p>
        </p:txBody>
      </p:sp>
    </p:spTree>
    <p:extLst>
      <p:ext uri="{BB962C8B-B14F-4D97-AF65-F5344CB8AC3E}">
        <p14:creationId xmlns:p14="http://schemas.microsoft.com/office/powerpoint/2010/main" val="305865197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0.png"/><Relationship Id="rId3" Type="http://schemas.openxmlformats.org/officeDocument/2006/relationships/hyperlink" Target="mailto:ghdnaushkumar2005@gmail.com" TargetMode="External"/><Relationship Id="rId7" Type="http://schemas.openxmlformats.org/officeDocument/2006/relationships/image" Target="../media/image5.svg"/><Relationship Id="rId12" Type="http://schemas.openxmlformats.org/officeDocument/2006/relationships/image" Target="../media/image9.png"/><Relationship Id="rId2" Type="http://schemas.openxmlformats.org/officeDocument/2006/relationships/image" Target="../media/image1.jpg"/><Relationship Id="rId16" Type="http://schemas.openxmlformats.org/officeDocument/2006/relationships/image" Target="../media/image13.svg"/><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8.svg"/><Relationship Id="rId5" Type="http://schemas.openxmlformats.org/officeDocument/2006/relationships/image" Target="../media/image3.svg"/><Relationship Id="rId15" Type="http://schemas.openxmlformats.org/officeDocument/2006/relationships/image" Target="../media/image12.png"/><Relationship Id="rId10" Type="http://schemas.openxmlformats.org/officeDocument/2006/relationships/image" Target="../media/image7.png"/><Relationship Id="rId4" Type="http://schemas.openxmlformats.org/officeDocument/2006/relationships/image" Target="../media/image2.png"/><Relationship Id="rId9" Type="http://schemas.microsoft.com/office/2007/relationships/hdphoto" Target="../media/hdphoto1.wdp"/><Relationship Id="rId1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CD1DABC7-D09D-CF28-CEE9-1EE92E19DD7C}"/>
              </a:ext>
            </a:extLst>
          </p:cNvPr>
          <p:cNvSpPr/>
          <p:nvPr/>
        </p:nvSpPr>
        <p:spPr>
          <a:xfrm>
            <a:off x="4634230" y="3848553"/>
            <a:ext cx="1911604" cy="5816210"/>
          </a:xfrm>
          <a:prstGeom prst="roundRect">
            <a:avLst/>
          </a:prstGeom>
          <a:solidFill>
            <a:srgbClr val="293A4A"/>
          </a:solidFill>
          <a:ln>
            <a:solidFill>
              <a:srgbClr val="293A4A"/>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Rectangle: Rounded Corners 17">
            <a:extLst>
              <a:ext uri="{FF2B5EF4-FFF2-40B4-BE49-F238E27FC236}">
                <a16:creationId xmlns:a16="http://schemas.microsoft.com/office/drawing/2014/main" id="{8EC63F07-E9C8-F38B-8E3A-6E2FBD3B7D28}"/>
              </a:ext>
            </a:extLst>
          </p:cNvPr>
          <p:cNvSpPr/>
          <p:nvPr/>
        </p:nvSpPr>
        <p:spPr>
          <a:xfrm>
            <a:off x="219246" y="3208775"/>
            <a:ext cx="4206061" cy="6439640"/>
          </a:xfrm>
          <a:custGeom>
            <a:avLst/>
            <a:gdLst>
              <a:gd name="connsiteX0" fmla="*/ 0 w 4178300"/>
              <a:gd name="connsiteY0" fmla="*/ 635672 h 3813953"/>
              <a:gd name="connsiteX1" fmla="*/ 635672 w 4178300"/>
              <a:gd name="connsiteY1" fmla="*/ 0 h 3813953"/>
              <a:gd name="connsiteX2" fmla="*/ 3542628 w 4178300"/>
              <a:gd name="connsiteY2" fmla="*/ 0 h 3813953"/>
              <a:gd name="connsiteX3" fmla="*/ 4178300 w 4178300"/>
              <a:gd name="connsiteY3" fmla="*/ 635672 h 3813953"/>
              <a:gd name="connsiteX4" fmla="*/ 4178300 w 4178300"/>
              <a:gd name="connsiteY4" fmla="*/ 3178281 h 3813953"/>
              <a:gd name="connsiteX5" fmla="*/ 3542628 w 4178300"/>
              <a:gd name="connsiteY5" fmla="*/ 3813953 h 3813953"/>
              <a:gd name="connsiteX6" fmla="*/ 635672 w 4178300"/>
              <a:gd name="connsiteY6" fmla="*/ 3813953 h 3813953"/>
              <a:gd name="connsiteX7" fmla="*/ 0 w 4178300"/>
              <a:gd name="connsiteY7" fmla="*/ 3178281 h 3813953"/>
              <a:gd name="connsiteX8" fmla="*/ 0 w 4178300"/>
              <a:gd name="connsiteY8" fmla="*/ 635672 h 3813953"/>
              <a:gd name="connsiteX0" fmla="*/ 0 w 4185920"/>
              <a:gd name="connsiteY0" fmla="*/ 422312 h 3813953"/>
              <a:gd name="connsiteX1" fmla="*/ 643292 w 4185920"/>
              <a:gd name="connsiteY1" fmla="*/ 0 h 3813953"/>
              <a:gd name="connsiteX2" fmla="*/ 3550248 w 4185920"/>
              <a:gd name="connsiteY2" fmla="*/ 0 h 3813953"/>
              <a:gd name="connsiteX3" fmla="*/ 4185920 w 4185920"/>
              <a:gd name="connsiteY3" fmla="*/ 635672 h 3813953"/>
              <a:gd name="connsiteX4" fmla="*/ 4185920 w 4185920"/>
              <a:gd name="connsiteY4" fmla="*/ 3178281 h 3813953"/>
              <a:gd name="connsiteX5" fmla="*/ 3550248 w 4185920"/>
              <a:gd name="connsiteY5" fmla="*/ 3813953 h 3813953"/>
              <a:gd name="connsiteX6" fmla="*/ 643292 w 4185920"/>
              <a:gd name="connsiteY6" fmla="*/ 3813953 h 3813953"/>
              <a:gd name="connsiteX7" fmla="*/ 7620 w 4185920"/>
              <a:gd name="connsiteY7" fmla="*/ 3178281 h 3813953"/>
              <a:gd name="connsiteX8" fmla="*/ 0 w 4185920"/>
              <a:gd name="connsiteY8" fmla="*/ 422312 h 3813953"/>
              <a:gd name="connsiteX0" fmla="*/ 0 w 4185920"/>
              <a:gd name="connsiteY0" fmla="*/ 422312 h 3813953"/>
              <a:gd name="connsiteX1" fmla="*/ 643292 w 4185920"/>
              <a:gd name="connsiteY1" fmla="*/ 0 h 3813953"/>
              <a:gd name="connsiteX2" fmla="*/ 3550248 w 4185920"/>
              <a:gd name="connsiteY2" fmla="*/ 0 h 3813953"/>
              <a:gd name="connsiteX3" fmla="*/ 4185920 w 4185920"/>
              <a:gd name="connsiteY3" fmla="*/ 422312 h 3813953"/>
              <a:gd name="connsiteX4" fmla="*/ 4185920 w 4185920"/>
              <a:gd name="connsiteY4" fmla="*/ 3178281 h 3813953"/>
              <a:gd name="connsiteX5" fmla="*/ 3550248 w 4185920"/>
              <a:gd name="connsiteY5" fmla="*/ 3813953 h 3813953"/>
              <a:gd name="connsiteX6" fmla="*/ 643292 w 4185920"/>
              <a:gd name="connsiteY6" fmla="*/ 3813953 h 3813953"/>
              <a:gd name="connsiteX7" fmla="*/ 7620 w 4185920"/>
              <a:gd name="connsiteY7" fmla="*/ 3178281 h 3813953"/>
              <a:gd name="connsiteX8" fmla="*/ 0 w 4185920"/>
              <a:gd name="connsiteY8" fmla="*/ 422312 h 3813953"/>
              <a:gd name="connsiteX0" fmla="*/ 0 w 4185920"/>
              <a:gd name="connsiteY0" fmla="*/ 422312 h 3813953"/>
              <a:gd name="connsiteX1" fmla="*/ 506132 w 4185920"/>
              <a:gd name="connsiteY1" fmla="*/ 0 h 3813953"/>
              <a:gd name="connsiteX2" fmla="*/ 3550248 w 4185920"/>
              <a:gd name="connsiteY2" fmla="*/ 0 h 3813953"/>
              <a:gd name="connsiteX3" fmla="*/ 4185920 w 4185920"/>
              <a:gd name="connsiteY3" fmla="*/ 422312 h 3813953"/>
              <a:gd name="connsiteX4" fmla="*/ 4185920 w 4185920"/>
              <a:gd name="connsiteY4" fmla="*/ 3178281 h 3813953"/>
              <a:gd name="connsiteX5" fmla="*/ 3550248 w 4185920"/>
              <a:gd name="connsiteY5" fmla="*/ 3813953 h 3813953"/>
              <a:gd name="connsiteX6" fmla="*/ 643292 w 4185920"/>
              <a:gd name="connsiteY6" fmla="*/ 3813953 h 3813953"/>
              <a:gd name="connsiteX7" fmla="*/ 7620 w 4185920"/>
              <a:gd name="connsiteY7" fmla="*/ 3178281 h 3813953"/>
              <a:gd name="connsiteX8" fmla="*/ 0 w 4185920"/>
              <a:gd name="connsiteY8" fmla="*/ 422312 h 3813953"/>
              <a:gd name="connsiteX0" fmla="*/ 0 w 4185920"/>
              <a:gd name="connsiteY0" fmla="*/ 422312 h 3813953"/>
              <a:gd name="connsiteX1" fmla="*/ 506132 w 4185920"/>
              <a:gd name="connsiteY1" fmla="*/ 0 h 3813953"/>
              <a:gd name="connsiteX2" fmla="*/ 3550248 w 4185920"/>
              <a:gd name="connsiteY2" fmla="*/ 0 h 3813953"/>
              <a:gd name="connsiteX3" fmla="*/ 4185920 w 4185920"/>
              <a:gd name="connsiteY3" fmla="*/ 422312 h 3813953"/>
              <a:gd name="connsiteX4" fmla="*/ 4185920 w 4185920"/>
              <a:gd name="connsiteY4" fmla="*/ 3178281 h 3813953"/>
              <a:gd name="connsiteX5" fmla="*/ 3550248 w 4185920"/>
              <a:gd name="connsiteY5" fmla="*/ 3813953 h 3813953"/>
              <a:gd name="connsiteX6" fmla="*/ 460412 w 4185920"/>
              <a:gd name="connsiteY6" fmla="*/ 3806333 h 3813953"/>
              <a:gd name="connsiteX7" fmla="*/ 7620 w 4185920"/>
              <a:gd name="connsiteY7" fmla="*/ 3178281 h 3813953"/>
              <a:gd name="connsiteX8" fmla="*/ 0 w 4185920"/>
              <a:gd name="connsiteY8" fmla="*/ 422312 h 3813953"/>
              <a:gd name="connsiteX0" fmla="*/ 0 w 4185920"/>
              <a:gd name="connsiteY0" fmla="*/ 422312 h 3813953"/>
              <a:gd name="connsiteX1" fmla="*/ 506132 w 4185920"/>
              <a:gd name="connsiteY1" fmla="*/ 0 h 3813953"/>
              <a:gd name="connsiteX2" fmla="*/ 3550248 w 4185920"/>
              <a:gd name="connsiteY2" fmla="*/ 0 h 3813953"/>
              <a:gd name="connsiteX3" fmla="*/ 4185920 w 4185920"/>
              <a:gd name="connsiteY3" fmla="*/ 422312 h 3813953"/>
              <a:gd name="connsiteX4" fmla="*/ 4185920 w 4185920"/>
              <a:gd name="connsiteY4" fmla="*/ 3178281 h 3813953"/>
              <a:gd name="connsiteX5" fmla="*/ 3550248 w 4185920"/>
              <a:gd name="connsiteY5" fmla="*/ 3813953 h 3813953"/>
              <a:gd name="connsiteX6" fmla="*/ 460412 w 4185920"/>
              <a:gd name="connsiteY6" fmla="*/ 3806333 h 3813953"/>
              <a:gd name="connsiteX7" fmla="*/ 15240 w 4185920"/>
              <a:gd name="connsiteY7" fmla="*/ 3368781 h 3813953"/>
              <a:gd name="connsiteX8" fmla="*/ 0 w 4185920"/>
              <a:gd name="connsiteY8" fmla="*/ 422312 h 3813953"/>
              <a:gd name="connsiteX0" fmla="*/ 0 w 4185920"/>
              <a:gd name="connsiteY0" fmla="*/ 422312 h 3813953"/>
              <a:gd name="connsiteX1" fmla="*/ 506132 w 4185920"/>
              <a:gd name="connsiteY1" fmla="*/ 0 h 3813953"/>
              <a:gd name="connsiteX2" fmla="*/ 3672168 w 4185920"/>
              <a:gd name="connsiteY2" fmla="*/ 0 h 3813953"/>
              <a:gd name="connsiteX3" fmla="*/ 4185920 w 4185920"/>
              <a:gd name="connsiteY3" fmla="*/ 422312 h 3813953"/>
              <a:gd name="connsiteX4" fmla="*/ 4185920 w 4185920"/>
              <a:gd name="connsiteY4" fmla="*/ 3178281 h 3813953"/>
              <a:gd name="connsiteX5" fmla="*/ 3550248 w 4185920"/>
              <a:gd name="connsiteY5" fmla="*/ 3813953 h 3813953"/>
              <a:gd name="connsiteX6" fmla="*/ 460412 w 4185920"/>
              <a:gd name="connsiteY6" fmla="*/ 3806333 h 3813953"/>
              <a:gd name="connsiteX7" fmla="*/ 15240 w 4185920"/>
              <a:gd name="connsiteY7" fmla="*/ 3368781 h 3813953"/>
              <a:gd name="connsiteX8" fmla="*/ 0 w 4185920"/>
              <a:gd name="connsiteY8" fmla="*/ 422312 h 3813953"/>
              <a:gd name="connsiteX0" fmla="*/ 0 w 4193540"/>
              <a:gd name="connsiteY0" fmla="*/ 422312 h 3813953"/>
              <a:gd name="connsiteX1" fmla="*/ 506132 w 4193540"/>
              <a:gd name="connsiteY1" fmla="*/ 0 h 3813953"/>
              <a:gd name="connsiteX2" fmla="*/ 3672168 w 4193540"/>
              <a:gd name="connsiteY2" fmla="*/ 0 h 3813953"/>
              <a:gd name="connsiteX3" fmla="*/ 4185920 w 4193540"/>
              <a:gd name="connsiteY3" fmla="*/ 422312 h 3813953"/>
              <a:gd name="connsiteX4" fmla="*/ 4193540 w 4193540"/>
              <a:gd name="connsiteY4" fmla="*/ 3368781 h 3813953"/>
              <a:gd name="connsiteX5" fmla="*/ 3550248 w 4193540"/>
              <a:gd name="connsiteY5" fmla="*/ 3813953 h 3813953"/>
              <a:gd name="connsiteX6" fmla="*/ 460412 w 4193540"/>
              <a:gd name="connsiteY6" fmla="*/ 3806333 h 3813953"/>
              <a:gd name="connsiteX7" fmla="*/ 15240 w 4193540"/>
              <a:gd name="connsiteY7" fmla="*/ 3368781 h 3813953"/>
              <a:gd name="connsiteX8" fmla="*/ 0 w 4193540"/>
              <a:gd name="connsiteY8" fmla="*/ 422312 h 3813953"/>
              <a:gd name="connsiteX0" fmla="*/ 0 w 4193540"/>
              <a:gd name="connsiteY0" fmla="*/ 422312 h 3813953"/>
              <a:gd name="connsiteX1" fmla="*/ 506132 w 4193540"/>
              <a:gd name="connsiteY1" fmla="*/ 0 h 3813953"/>
              <a:gd name="connsiteX2" fmla="*/ 3672168 w 4193540"/>
              <a:gd name="connsiteY2" fmla="*/ 0 h 3813953"/>
              <a:gd name="connsiteX3" fmla="*/ 4185920 w 4193540"/>
              <a:gd name="connsiteY3" fmla="*/ 422312 h 3813953"/>
              <a:gd name="connsiteX4" fmla="*/ 4193540 w 4193540"/>
              <a:gd name="connsiteY4" fmla="*/ 3368781 h 3813953"/>
              <a:gd name="connsiteX5" fmla="*/ 3748368 w 4193540"/>
              <a:gd name="connsiteY5" fmla="*/ 3813953 h 3813953"/>
              <a:gd name="connsiteX6" fmla="*/ 460412 w 4193540"/>
              <a:gd name="connsiteY6" fmla="*/ 3806333 h 3813953"/>
              <a:gd name="connsiteX7" fmla="*/ 15240 w 4193540"/>
              <a:gd name="connsiteY7" fmla="*/ 3368781 h 3813953"/>
              <a:gd name="connsiteX8" fmla="*/ 0 w 4193540"/>
              <a:gd name="connsiteY8" fmla="*/ 422312 h 3813953"/>
              <a:gd name="connsiteX0" fmla="*/ 0 w 4181965"/>
              <a:gd name="connsiteY0" fmla="*/ 367017 h 3813953"/>
              <a:gd name="connsiteX1" fmla="*/ 494557 w 4181965"/>
              <a:gd name="connsiteY1" fmla="*/ 0 h 3813953"/>
              <a:gd name="connsiteX2" fmla="*/ 3660593 w 4181965"/>
              <a:gd name="connsiteY2" fmla="*/ 0 h 3813953"/>
              <a:gd name="connsiteX3" fmla="*/ 4174345 w 4181965"/>
              <a:gd name="connsiteY3" fmla="*/ 422312 h 3813953"/>
              <a:gd name="connsiteX4" fmla="*/ 4181965 w 4181965"/>
              <a:gd name="connsiteY4" fmla="*/ 3368781 h 3813953"/>
              <a:gd name="connsiteX5" fmla="*/ 3736793 w 4181965"/>
              <a:gd name="connsiteY5" fmla="*/ 3813953 h 3813953"/>
              <a:gd name="connsiteX6" fmla="*/ 448837 w 4181965"/>
              <a:gd name="connsiteY6" fmla="*/ 3806333 h 3813953"/>
              <a:gd name="connsiteX7" fmla="*/ 3665 w 4181965"/>
              <a:gd name="connsiteY7" fmla="*/ 3368781 h 3813953"/>
              <a:gd name="connsiteX8" fmla="*/ 0 w 4181965"/>
              <a:gd name="connsiteY8" fmla="*/ 367017 h 3813953"/>
              <a:gd name="connsiteX0" fmla="*/ 0 w 4181965"/>
              <a:gd name="connsiteY0" fmla="*/ 306822 h 3815965"/>
              <a:gd name="connsiteX1" fmla="*/ 494557 w 4181965"/>
              <a:gd name="connsiteY1" fmla="*/ 2012 h 3815965"/>
              <a:gd name="connsiteX2" fmla="*/ 3660593 w 4181965"/>
              <a:gd name="connsiteY2" fmla="*/ 2012 h 3815965"/>
              <a:gd name="connsiteX3" fmla="*/ 4174345 w 4181965"/>
              <a:gd name="connsiteY3" fmla="*/ 424324 h 3815965"/>
              <a:gd name="connsiteX4" fmla="*/ 4181965 w 4181965"/>
              <a:gd name="connsiteY4" fmla="*/ 3370793 h 3815965"/>
              <a:gd name="connsiteX5" fmla="*/ 3736793 w 4181965"/>
              <a:gd name="connsiteY5" fmla="*/ 3815965 h 3815965"/>
              <a:gd name="connsiteX6" fmla="*/ 448837 w 4181965"/>
              <a:gd name="connsiteY6" fmla="*/ 3808345 h 3815965"/>
              <a:gd name="connsiteX7" fmla="*/ 3665 w 4181965"/>
              <a:gd name="connsiteY7" fmla="*/ 3370793 h 3815965"/>
              <a:gd name="connsiteX8" fmla="*/ 0 w 4181965"/>
              <a:gd name="connsiteY8" fmla="*/ 306822 h 3815965"/>
              <a:gd name="connsiteX0" fmla="*/ 0 w 4197495"/>
              <a:gd name="connsiteY0" fmla="*/ 309922 h 3819065"/>
              <a:gd name="connsiteX1" fmla="*/ 494557 w 4197495"/>
              <a:gd name="connsiteY1" fmla="*/ 5112 h 3819065"/>
              <a:gd name="connsiteX2" fmla="*/ 3660593 w 4197495"/>
              <a:gd name="connsiteY2" fmla="*/ 5112 h 3819065"/>
              <a:gd name="connsiteX3" fmla="*/ 4197495 w 4197495"/>
              <a:gd name="connsiteY3" fmla="*/ 289186 h 3819065"/>
              <a:gd name="connsiteX4" fmla="*/ 4181965 w 4197495"/>
              <a:gd name="connsiteY4" fmla="*/ 3373893 h 3819065"/>
              <a:gd name="connsiteX5" fmla="*/ 3736793 w 4197495"/>
              <a:gd name="connsiteY5" fmla="*/ 3819065 h 3819065"/>
              <a:gd name="connsiteX6" fmla="*/ 448837 w 4197495"/>
              <a:gd name="connsiteY6" fmla="*/ 3811445 h 3819065"/>
              <a:gd name="connsiteX7" fmla="*/ 3665 w 4197495"/>
              <a:gd name="connsiteY7" fmla="*/ 3373893 h 3819065"/>
              <a:gd name="connsiteX8" fmla="*/ 0 w 4197495"/>
              <a:gd name="connsiteY8" fmla="*/ 309922 h 3819065"/>
              <a:gd name="connsiteX0" fmla="*/ 0 w 4197495"/>
              <a:gd name="connsiteY0" fmla="*/ 309922 h 3819065"/>
              <a:gd name="connsiteX1" fmla="*/ 494557 w 4197495"/>
              <a:gd name="connsiteY1" fmla="*/ 5112 h 3819065"/>
              <a:gd name="connsiteX2" fmla="*/ 3660593 w 4197495"/>
              <a:gd name="connsiteY2" fmla="*/ 5112 h 3819065"/>
              <a:gd name="connsiteX3" fmla="*/ 4197495 w 4197495"/>
              <a:gd name="connsiteY3" fmla="*/ 289186 h 3819065"/>
              <a:gd name="connsiteX4" fmla="*/ 4181965 w 4197495"/>
              <a:gd name="connsiteY4" fmla="*/ 3373893 h 3819065"/>
              <a:gd name="connsiteX5" fmla="*/ 3736793 w 4197495"/>
              <a:gd name="connsiteY5" fmla="*/ 3819065 h 3819065"/>
              <a:gd name="connsiteX6" fmla="*/ 448837 w 4197495"/>
              <a:gd name="connsiteY6" fmla="*/ 3811445 h 3819065"/>
              <a:gd name="connsiteX7" fmla="*/ 3665 w 4197495"/>
              <a:gd name="connsiteY7" fmla="*/ 3463748 h 3819065"/>
              <a:gd name="connsiteX8" fmla="*/ 0 w 4197495"/>
              <a:gd name="connsiteY8" fmla="*/ 309922 h 3819065"/>
              <a:gd name="connsiteX0" fmla="*/ 0 w 4206061"/>
              <a:gd name="connsiteY0" fmla="*/ 309922 h 3819388"/>
              <a:gd name="connsiteX1" fmla="*/ 494557 w 4206061"/>
              <a:gd name="connsiteY1" fmla="*/ 5112 h 3819388"/>
              <a:gd name="connsiteX2" fmla="*/ 3660593 w 4206061"/>
              <a:gd name="connsiteY2" fmla="*/ 5112 h 3819388"/>
              <a:gd name="connsiteX3" fmla="*/ 4197495 w 4206061"/>
              <a:gd name="connsiteY3" fmla="*/ 289186 h 3819388"/>
              <a:gd name="connsiteX4" fmla="*/ 4205114 w 4206061"/>
              <a:gd name="connsiteY4" fmla="*/ 3491395 h 3819388"/>
              <a:gd name="connsiteX5" fmla="*/ 3736793 w 4206061"/>
              <a:gd name="connsiteY5" fmla="*/ 3819065 h 3819388"/>
              <a:gd name="connsiteX6" fmla="*/ 448837 w 4206061"/>
              <a:gd name="connsiteY6" fmla="*/ 3811445 h 3819388"/>
              <a:gd name="connsiteX7" fmla="*/ 3665 w 4206061"/>
              <a:gd name="connsiteY7" fmla="*/ 3463748 h 3819388"/>
              <a:gd name="connsiteX8" fmla="*/ 0 w 4206061"/>
              <a:gd name="connsiteY8" fmla="*/ 309922 h 3819388"/>
              <a:gd name="connsiteX0" fmla="*/ 0 w 4206061"/>
              <a:gd name="connsiteY0" fmla="*/ 309922 h 3819388"/>
              <a:gd name="connsiteX1" fmla="*/ 610304 w 4206061"/>
              <a:gd name="connsiteY1" fmla="*/ 5112 h 3819388"/>
              <a:gd name="connsiteX2" fmla="*/ 3660593 w 4206061"/>
              <a:gd name="connsiteY2" fmla="*/ 5112 h 3819388"/>
              <a:gd name="connsiteX3" fmla="*/ 4197495 w 4206061"/>
              <a:gd name="connsiteY3" fmla="*/ 289186 h 3819388"/>
              <a:gd name="connsiteX4" fmla="*/ 4205114 w 4206061"/>
              <a:gd name="connsiteY4" fmla="*/ 3491395 h 3819388"/>
              <a:gd name="connsiteX5" fmla="*/ 3736793 w 4206061"/>
              <a:gd name="connsiteY5" fmla="*/ 3819065 h 3819388"/>
              <a:gd name="connsiteX6" fmla="*/ 448837 w 4206061"/>
              <a:gd name="connsiteY6" fmla="*/ 3811445 h 3819388"/>
              <a:gd name="connsiteX7" fmla="*/ 3665 w 4206061"/>
              <a:gd name="connsiteY7" fmla="*/ 3463748 h 3819388"/>
              <a:gd name="connsiteX8" fmla="*/ 0 w 4206061"/>
              <a:gd name="connsiteY8" fmla="*/ 309922 h 3819388"/>
              <a:gd name="connsiteX0" fmla="*/ 0 w 4206061"/>
              <a:gd name="connsiteY0" fmla="*/ 309922 h 3819388"/>
              <a:gd name="connsiteX1" fmla="*/ 610304 w 4206061"/>
              <a:gd name="connsiteY1" fmla="*/ 5112 h 3819388"/>
              <a:gd name="connsiteX2" fmla="*/ 3533271 w 4206061"/>
              <a:gd name="connsiteY2" fmla="*/ 5112 h 3819388"/>
              <a:gd name="connsiteX3" fmla="*/ 4197495 w 4206061"/>
              <a:gd name="connsiteY3" fmla="*/ 289186 h 3819388"/>
              <a:gd name="connsiteX4" fmla="*/ 4205114 w 4206061"/>
              <a:gd name="connsiteY4" fmla="*/ 3491395 h 3819388"/>
              <a:gd name="connsiteX5" fmla="*/ 3736793 w 4206061"/>
              <a:gd name="connsiteY5" fmla="*/ 3819065 h 3819388"/>
              <a:gd name="connsiteX6" fmla="*/ 448837 w 4206061"/>
              <a:gd name="connsiteY6" fmla="*/ 3811445 h 3819388"/>
              <a:gd name="connsiteX7" fmla="*/ 3665 w 4206061"/>
              <a:gd name="connsiteY7" fmla="*/ 3463748 h 3819388"/>
              <a:gd name="connsiteX8" fmla="*/ 0 w 4206061"/>
              <a:gd name="connsiteY8" fmla="*/ 309922 h 3819388"/>
              <a:gd name="connsiteX0" fmla="*/ 0 w 4206061"/>
              <a:gd name="connsiteY0" fmla="*/ 309922 h 3819388"/>
              <a:gd name="connsiteX1" fmla="*/ 610304 w 4206061"/>
              <a:gd name="connsiteY1" fmla="*/ 5112 h 3819388"/>
              <a:gd name="connsiteX2" fmla="*/ 3533271 w 4206061"/>
              <a:gd name="connsiteY2" fmla="*/ 5112 h 3819388"/>
              <a:gd name="connsiteX3" fmla="*/ 4197495 w 4206061"/>
              <a:gd name="connsiteY3" fmla="*/ 289186 h 3819388"/>
              <a:gd name="connsiteX4" fmla="*/ 4205114 w 4206061"/>
              <a:gd name="connsiteY4" fmla="*/ 3491395 h 3819388"/>
              <a:gd name="connsiteX5" fmla="*/ 3736793 w 4206061"/>
              <a:gd name="connsiteY5" fmla="*/ 3819065 h 3819388"/>
              <a:gd name="connsiteX6" fmla="*/ 495136 w 4206061"/>
              <a:gd name="connsiteY6" fmla="*/ 3811445 h 3819388"/>
              <a:gd name="connsiteX7" fmla="*/ 3665 w 4206061"/>
              <a:gd name="connsiteY7" fmla="*/ 3463748 h 3819388"/>
              <a:gd name="connsiteX8" fmla="*/ 0 w 4206061"/>
              <a:gd name="connsiteY8" fmla="*/ 309922 h 3819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06061" h="3819388">
                <a:moveTo>
                  <a:pt x="0" y="309922"/>
                </a:moveTo>
                <a:cubicBezTo>
                  <a:pt x="0" y="-41150"/>
                  <a:pt x="259232" y="5112"/>
                  <a:pt x="610304" y="5112"/>
                </a:cubicBezTo>
                <a:lnTo>
                  <a:pt x="3533271" y="5112"/>
                </a:lnTo>
                <a:cubicBezTo>
                  <a:pt x="3884343" y="5112"/>
                  <a:pt x="4197495" y="-61886"/>
                  <a:pt x="4197495" y="289186"/>
                </a:cubicBezTo>
                <a:cubicBezTo>
                  <a:pt x="4192318" y="1317422"/>
                  <a:pt x="4210291" y="2463159"/>
                  <a:pt x="4205114" y="3491395"/>
                </a:cubicBezTo>
                <a:cubicBezTo>
                  <a:pt x="4205114" y="3842467"/>
                  <a:pt x="4087865" y="3819065"/>
                  <a:pt x="3736793" y="3819065"/>
                </a:cubicBezTo>
                <a:lnTo>
                  <a:pt x="495136" y="3811445"/>
                </a:lnTo>
                <a:cubicBezTo>
                  <a:pt x="144064" y="3811445"/>
                  <a:pt x="3665" y="3814820"/>
                  <a:pt x="3665" y="3463748"/>
                </a:cubicBezTo>
                <a:cubicBezTo>
                  <a:pt x="3665" y="2616212"/>
                  <a:pt x="0" y="1157458"/>
                  <a:pt x="0" y="309922"/>
                </a:cubicBezTo>
                <a:close/>
              </a:path>
            </a:pathLst>
          </a:custGeom>
          <a:solidFill>
            <a:srgbClr val="293A4A"/>
          </a:solidFill>
          <a:ln>
            <a:solidFill>
              <a:srgbClr val="293A4A"/>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 Box 16">
            <a:extLst>
              <a:ext uri="{FF2B5EF4-FFF2-40B4-BE49-F238E27FC236}">
                <a16:creationId xmlns:a16="http://schemas.microsoft.com/office/drawing/2014/main" id="{534D323D-8F93-A8E3-3946-47CB15EE7D62}"/>
              </a:ext>
            </a:extLst>
          </p:cNvPr>
          <p:cNvSpPr txBox="1"/>
          <p:nvPr/>
        </p:nvSpPr>
        <p:spPr>
          <a:xfrm>
            <a:off x="4346448" y="241237"/>
            <a:ext cx="2354834" cy="1105979"/>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800"/>
              </a:spcAft>
              <a:buNone/>
            </a:pPr>
            <a:r>
              <a:rPr lang="en-IN" sz="1000" kern="1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+91 82485 74408</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buNone/>
            </a:pPr>
            <a:r>
              <a:rPr lang="en-IN" sz="1000" strike="noStrike"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gdhanushkumar2005@gmail.com</a:t>
            </a:r>
            <a:endParaRPr lang="en-IN"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buNone/>
            </a:pPr>
            <a:r>
              <a:rPr lang="en-IN" sz="1000" kern="1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www.linkedin.com/in/dhanush-kumar-g-752191246</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buNone/>
            </a:pPr>
            <a:r>
              <a:rPr lang="en-IN" sz="1000" kern="100" dirty="0" err="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Srivilliputtur</a:t>
            </a:r>
            <a:r>
              <a:rPr lang="en-IN" sz="1000" kern="1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 ,Tamil Nadu</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IN" sz="1000" kern="1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639AC1B4-27B2-6274-1D77-0DF2B34116C0}"/>
              </a:ext>
            </a:extLst>
          </p:cNvPr>
          <p:cNvCxnSpPr/>
          <p:nvPr/>
        </p:nvCxnSpPr>
        <p:spPr>
          <a:xfrm>
            <a:off x="4397756" y="493649"/>
            <a:ext cx="2159000" cy="6350"/>
          </a:xfrm>
          <a:prstGeom prst="line">
            <a:avLst/>
          </a:prstGeom>
        </p:spPr>
        <p:style>
          <a:lnRef idx="2">
            <a:schemeClr val="accent3"/>
          </a:lnRef>
          <a:fillRef idx="0">
            <a:schemeClr val="accent3"/>
          </a:fillRef>
          <a:effectRef idx="1">
            <a:schemeClr val="accent3"/>
          </a:effectRef>
          <a:fontRef idx="minor">
            <a:schemeClr val="tx1"/>
          </a:fontRef>
        </p:style>
      </p:cxnSp>
      <p:cxnSp>
        <p:nvCxnSpPr>
          <p:cNvPr id="9" name="Straight Connector 8">
            <a:extLst>
              <a:ext uri="{FF2B5EF4-FFF2-40B4-BE49-F238E27FC236}">
                <a16:creationId xmlns:a16="http://schemas.microsoft.com/office/drawing/2014/main" id="{D59F741B-E009-8E1F-646A-403247187F3A}"/>
              </a:ext>
            </a:extLst>
          </p:cNvPr>
          <p:cNvCxnSpPr/>
          <p:nvPr/>
        </p:nvCxnSpPr>
        <p:spPr>
          <a:xfrm>
            <a:off x="4391660" y="761873"/>
            <a:ext cx="2159000" cy="6350"/>
          </a:xfrm>
          <a:prstGeom prst="line">
            <a:avLst/>
          </a:prstGeom>
        </p:spPr>
        <p:style>
          <a:lnRef idx="2">
            <a:schemeClr val="accent3"/>
          </a:lnRef>
          <a:fillRef idx="0">
            <a:schemeClr val="accent3"/>
          </a:fillRef>
          <a:effectRef idx="1">
            <a:schemeClr val="accent3"/>
          </a:effectRef>
          <a:fontRef idx="minor">
            <a:schemeClr val="tx1"/>
          </a:fontRef>
        </p:style>
      </p:cxnSp>
      <p:cxnSp>
        <p:nvCxnSpPr>
          <p:cNvPr id="10" name="Straight Connector 9">
            <a:extLst>
              <a:ext uri="{FF2B5EF4-FFF2-40B4-BE49-F238E27FC236}">
                <a16:creationId xmlns:a16="http://schemas.microsoft.com/office/drawing/2014/main" id="{D4E8D10A-0DFD-A304-FC7E-B4F11C11BA59}"/>
              </a:ext>
            </a:extLst>
          </p:cNvPr>
          <p:cNvCxnSpPr/>
          <p:nvPr/>
        </p:nvCxnSpPr>
        <p:spPr>
          <a:xfrm>
            <a:off x="4391660" y="1145921"/>
            <a:ext cx="2159000" cy="6350"/>
          </a:xfrm>
          <a:prstGeom prst="line">
            <a:avLst/>
          </a:prstGeom>
        </p:spPr>
        <p:style>
          <a:lnRef idx="2">
            <a:schemeClr val="accent3"/>
          </a:lnRef>
          <a:fillRef idx="0">
            <a:schemeClr val="accent3"/>
          </a:fillRef>
          <a:effectRef idx="1">
            <a:schemeClr val="accent3"/>
          </a:effectRef>
          <a:fontRef idx="minor">
            <a:schemeClr val="tx1"/>
          </a:fontRef>
        </p:style>
      </p:cxnSp>
      <p:pic>
        <p:nvPicPr>
          <p:cNvPr id="12" name="Graphic 18" descr="Receiver with solid fill">
            <a:extLst>
              <a:ext uri="{FF2B5EF4-FFF2-40B4-BE49-F238E27FC236}">
                <a16:creationId xmlns:a16="http://schemas.microsoft.com/office/drawing/2014/main" id="{41569F74-805E-B096-0F35-8888CDEB453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58234" y="281178"/>
            <a:ext cx="175260" cy="175260"/>
          </a:xfrm>
          <a:prstGeom prst="rect">
            <a:avLst/>
          </a:prstGeom>
        </p:spPr>
      </p:pic>
      <p:pic>
        <p:nvPicPr>
          <p:cNvPr id="13" name="Graphic 19" descr="Envelope with solid fill">
            <a:extLst>
              <a:ext uri="{FF2B5EF4-FFF2-40B4-BE49-F238E27FC236}">
                <a16:creationId xmlns:a16="http://schemas.microsoft.com/office/drawing/2014/main" id="{03EE315D-D931-B77C-74BB-EE01831BCC3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31564" y="528828"/>
            <a:ext cx="228600" cy="228600"/>
          </a:xfrm>
          <a:prstGeom prst="rect">
            <a:avLst/>
          </a:prstGeom>
        </p:spPr>
      </p:pic>
      <p:pic>
        <p:nvPicPr>
          <p:cNvPr id="14" name="Picture 13" descr="HD Vector Flat Linkedin IN Round Icon PNG | Citypng">
            <a:extLst>
              <a:ext uri="{FF2B5EF4-FFF2-40B4-BE49-F238E27FC236}">
                <a16:creationId xmlns:a16="http://schemas.microsoft.com/office/drawing/2014/main" id="{4CA24948-E3AE-8A23-39DD-79A131112D38}"/>
              </a:ext>
            </a:extLst>
          </p:cNvPr>
          <p:cNvPicPr>
            <a:picLocks noChangeAspect="1"/>
          </p:cNvPicPr>
          <p:nvPr/>
        </p:nvPicPr>
        <p:blipFill>
          <a:blip r:embed="rId8" cstate="print">
            <a:biLevel thresh="25000"/>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125214" y="833374"/>
            <a:ext cx="241300" cy="241300"/>
          </a:xfrm>
          <a:prstGeom prst="rect">
            <a:avLst/>
          </a:prstGeom>
          <a:noFill/>
          <a:ln>
            <a:noFill/>
          </a:ln>
        </p:spPr>
      </p:pic>
      <p:pic>
        <p:nvPicPr>
          <p:cNvPr id="15" name="Graphic 20" descr="Map with pin with solid fill">
            <a:extLst>
              <a:ext uri="{FF2B5EF4-FFF2-40B4-BE49-F238E27FC236}">
                <a16:creationId xmlns:a16="http://schemas.microsoft.com/office/drawing/2014/main" id="{0CCC3E93-6C15-2A6B-70C3-2F949BE6B44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145280" y="1164336"/>
            <a:ext cx="213360" cy="213360"/>
          </a:xfrm>
          <a:prstGeom prst="rect">
            <a:avLst/>
          </a:prstGeom>
        </p:spPr>
      </p:pic>
      <p:sp>
        <p:nvSpPr>
          <p:cNvPr id="16" name="Rectangle: Rounded Corners 15">
            <a:extLst>
              <a:ext uri="{FF2B5EF4-FFF2-40B4-BE49-F238E27FC236}">
                <a16:creationId xmlns:a16="http://schemas.microsoft.com/office/drawing/2014/main" id="{F14DE6B5-8A56-C5B3-B0C7-DB7CFC7BB743}"/>
              </a:ext>
            </a:extLst>
          </p:cNvPr>
          <p:cNvSpPr/>
          <p:nvPr/>
        </p:nvSpPr>
        <p:spPr>
          <a:xfrm>
            <a:off x="201781" y="1634807"/>
            <a:ext cx="4178300" cy="1420426"/>
          </a:xfrm>
          <a:prstGeom prst="roundRect">
            <a:avLst/>
          </a:prstGeom>
          <a:solidFill>
            <a:srgbClr val="293A4A"/>
          </a:solidFill>
          <a:ln>
            <a:solidFill>
              <a:srgbClr val="293A4A"/>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D4506568-4CD0-A837-26A4-42998C9427E7}"/>
              </a:ext>
            </a:extLst>
          </p:cNvPr>
          <p:cNvSpPr txBox="1"/>
          <p:nvPr/>
        </p:nvSpPr>
        <p:spPr>
          <a:xfrm>
            <a:off x="288671" y="1665287"/>
            <a:ext cx="4077843" cy="1738938"/>
          </a:xfrm>
          <a:prstGeom prst="rect">
            <a:avLst/>
          </a:prstGeom>
          <a:noFill/>
        </p:spPr>
        <p:txBody>
          <a:bodyPr wrap="square" rtlCol="0">
            <a:spAutoFit/>
          </a:bodyPr>
          <a:lstStyle/>
          <a:p>
            <a:r>
              <a:rPr lang="en-IN" sz="1200" dirty="0">
                <a:solidFill>
                  <a:srgbClr val="647587"/>
                </a:solidFill>
                <a:latin typeface="Times New Roman" panose="02020603050405020304" pitchFamily="18" charset="0"/>
                <a:cs typeface="Times New Roman" panose="02020603050405020304" pitchFamily="18" charset="0"/>
              </a:rPr>
              <a:t>EXECUTIVE SUMMARY</a:t>
            </a:r>
          </a:p>
          <a:p>
            <a:endParaRPr lang="en-IN" sz="1100" dirty="0">
              <a:solidFill>
                <a:srgbClr val="647587"/>
              </a:solidFill>
              <a:latin typeface="Times New Roman" panose="02020603050405020304" pitchFamily="18" charset="0"/>
              <a:cs typeface="Times New Roman" panose="02020603050405020304" pitchFamily="18" charset="0"/>
            </a:endParaRPr>
          </a:p>
          <a:p>
            <a:r>
              <a:rPr lang="en-IN" sz="1100" dirty="0">
                <a:solidFill>
                  <a:schemeClr val="bg1"/>
                </a:solidFill>
                <a:latin typeface="Times New Roman" panose="02020603050405020304" pitchFamily="18" charset="0"/>
                <a:cs typeface="Times New Roman" panose="02020603050405020304" pitchFamily="18" charset="0"/>
              </a:rPr>
              <a:t>B.E. Electrical and Electronics Engineering student. Adept at problem-solving, circuit design, and software development, with a keen interest in integrating hardware and software for real-world applications. Highly motivated to contribute to innovative tech-driven solutions, whether in core electronics or IT-based environments.</a:t>
            </a:r>
          </a:p>
          <a:p>
            <a:endParaRPr lang="en-IN" sz="1100" dirty="0">
              <a:solidFill>
                <a:schemeClr val="bg1"/>
              </a:solidFill>
              <a:latin typeface="Times New Roman" panose="02020603050405020304" pitchFamily="18" charset="0"/>
              <a:cs typeface="Times New Roman" panose="02020603050405020304" pitchFamily="18" charset="0"/>
            </a:endParaRPr>
          </a:p>
          <a:p>
            <a:endParaRPr lang="en-IN" dirty="0"/>
          </a:p>
        </p:txBody>
      </p:sp>
      <p:sp>
        <p:nvSpPr>
          <p:cNvPr id="19" name="TextBox 18">
            <a:extLst>
              <a:ext uri="{FF2B5EF4-FFF2-40B4-BE49-F238E27FC236}">
                <a16:creationId xmlns:a16="http://schemas.microsoft.com/office/drawing/2014/main" id="{8B18EC65-EDDC-EB25-86BB-9533A54D31CC}"/>
              </a:ext>
            </a:extLst>
          </p:cNvPr>
          <p:cNvSpPr txBox="1"/>
          <p:nvPr/>
        </p:nvSpPr>
        <p:spPr>
          <a:xfrm>
            <a:off x="301879" y="3333086"/>
            <a:ext cx="3986022" cy="2813719"/>
          </a:xfrm>
          <a:prstGeom prst="rect">
            <a:avLst/>
          </a:prstGeom>
          <a:noFill/>
        </p:spPr>
        <p:txBody>
          <a:bodyPr wrap="square" rtlCol="0">
            <a:spAutoFit/>
          </a:bodyPr>
          <a:lstStyle/>
          <a:p>
            <a:pPr>
              <a:lnSpc>
                <a:spcPct val="150000"/>
              </a:lnSpc>
            </a:pPr>
            <a:r>
              <a:rPr lang="en-IN" sz="1200" dirty="0">
                <a:solidFill>
                  <a:srgbClr val="647587"/>
                </a:solidFill>
                <a:latin typeface="Times New Roman" panose="02020603050405020304" pitchFamily="18" charset="0"/>
                <a:cs typeface="Times New Roman" panose="02020603050405020304" pitchFamily="18" charset="0"/>
              </a:rPr>
              <a:t>PROJECTS</a:t>
            </a:r>
          </a:p>
          <a:p>
            <a:pPr>
              <a:lnSpc>
                <a:spcPct val="150000"/>
              </a:lnSpc>
            </a:pPr>
            <a:r>
              <a:rPr lang="en-IN" sz="1100" dirty="0">
                <a:solidFill>
                  <a:schemeClr val="bg1"/>
                </a:solidFill>
                <a:latin typeface="Times New Roman" panose="02020603050405020304" pitchFamily="18" charset="0"/>
                <a:cs typeface="Times New Roman" panose="02020603050405020304" pitchFamily="18" charset="0"/>
              </a:rPr>
              <a:t>Dumper Tyre Management System       </a:t>
            </a:r>
            <a:r>
              <a:rPr lang="en-IN" sz="800" i="1" dirty="0">
                <a:solidFill>
                  <a:schemeClr val="bg1"/>
                </a:solidFill>
                <a:latin typeface="Times New Roman" panose="02020603050405020304" pitchFamily="18" charset="0"/>
                <a:cs typeface="Times New Roman" panose="02020603050405020304" pitchFamily="18" charset="0"/>
              </a:rPr>
              <a:t>12/2024</a:t>
            </a:r>
            <a:r>
              <a:rPr lang="en-IN" sz="1100" dirty="0">
                <a:solidFill>
                  <a:schemeClr val="bg1"/>
                </a:solidFill>
                <a:latin typeface="Times New Roman" panose="02020603050405020304" pitchFamily="18" charset="0"/>
                <a:cs typeface="Times New Roman" panose="02020603050405020304" pitchFamily="18" charset="0"/>
              </a:rPr>
              <a:t> </a:t>
            </a:r>
            <a:endParaRPr lang="en-IN" sz="1000" dirty="0">
              <a:solidFill>
                <a:schemeClr val="bg1"/>
              </a:solidFill>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000" dirty="0">
                <a:solidFill>
                  <a:schemeClr val="bg1"/>
                </a:solidFill>
                <a:latin typeface="Times New Roman" panose="02020603050405020304" pitchFamily="18" charset="0"/>
                <a:cs typeface="Times New Roman" panose="02020603050405020304" pitchFamily="18" charset="0"/>
              </a:rPr>
              <a:t>Role: Sensor Calibration &amp; </a:t>
            </a:r>
            <a:r>
              <a:rPr lang="en-IN" sz="1000">
                <a:solidFill>
                  <a:schemeClr val="bg1"/>
                </a:solidFill>
                <a:latin typeface="Times New Roman" panose="02020603050405020304" pitchFamily="18" charset="0"/>
                <a:cs typeface="Times New Roman" panose="02020603050405020304" pitchFamily="18" charset="0"/>
              </a:rPr>
              <a:t>UI Design</a:t>
            </a:r>
            <a:endParaRPr lang="en-IN" sz="1000" dirty="0">
              <a:solidFill>
                <a:schemeClr val="bg1"/>
              </a:solidFill>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000" dirty="0">
                <a:solidFill>
                  <a:schemeClr val="bg1"/>
                </a:solidFill>
                <a:latin typeface="Times New Roman" panose="02020603050405020304" pitchFamily="18" charset="0"/>
                <a:cs typeface="Times New Roman" panose="02020603050405020304" pitchFamily="18" charset="0"/>
              </a:rPr>
              <a:t>Description: </a:t>
            </a:r>
            <a:r>
              <a:rPr lang="en-US" sz="1000" dirty="0">
                <a:solidFill>
                  <a:schemeClr val="bg1"/>
                </a:solidFill>
                <a:latin typeface="Times New Roman" panose="02020603050405020304" pitchFamily="18" charset="0"/>
                <a:cs typeface="Times New Roman" panose="02020603050405020304" pitchFamily="18" charset="0"/>
              </a:rPr>
              <a:t>Designed and implemented a real-time </a:t>
            </a:r>
            <a:r>
              <a:rPr lang="en-US" sz="1000" dirty="0" err="1">
                <a:solidFill>
                  <a:schemeClr val="bg1"/>
                </a:solidFill>
                <a:latin typeface="Times New Roman" panose="02020603050405020304" pitchFamily="18" charset="0"/>
                <a:cs typeface="Times New Roman" panose="02020603050405020304" pitchFamily="18" charset="0"/>
              </a:rPr>
              <a:t>tyre</a:t>
            </a:r>
            <a:r>
              <a:rPr lang="en-US" sz="1000" dirty="0">
                <a:solidFill>
                  <a:schemeClr val="bg1"/>
                </a:solidFill>
                <a:latin typeface="Times New Roman" panose="02020603050405020304" pitchFamily="18" charset="0"/>
                <a:cs typeface="Times New Roman" panose="02020603050405020304" pitchFamily="18" charset="0"/>
              </a:rPr>
              <a:t> health monitoring system for heavy-duty dumpers to prevent accidents caused by </a:t>
            </a:r>
            <a:r>
              <a:rPr lang="en-US" sz="1000" dirty="0" err="1">
                <a:solidFill>
                  <a:schemeClr val="bg1"/>
                </a:solidFill>
                <a:latin typeface="Times New Roman" panose="02020603050405020304" pitchFamily="18" charset="0"/>
                <a:cs typeface="Times New Roman" panose="02020603050405020304" pitchFamily="18" charset="0"/>
              </a:rPr>
              <a:t>tyre</a:t>
            </a:r>
            <a:r>
              <a:rPr lang="en-US" sz="1000" dirty="0">
                <a:solidFill>
                  <a:schemeClr val="bg1"/>
                </a:solidFill>
                <a:latin typeface="Times New Roman" panose="02020603050405020304" pitchFamily="18" charset="0"/>
                <a:cs typeface="Times New Roman" panose="02020603050405020304" pitchFamily="18" charset="0"/>
              </a:rPr>
              <a:t> failure. Utilizing React Native, Firebase, ESP32, Arduino IDE and Sensors.</a:t>
            </a:r>
          </a:p>
          <a:p>
            <a:pPr lvl="0">
              <a:lnSpc>
                <a:spcPct val="150000"/>
              </a:lnSpc>
            </a:pPr>
            <a:r>
              <a:rPr lang="en-IN" sz="1100" dirty="0">
                <a:solidFill>
                  <a:schemeClr val="bg1"/>
                </a:solidFill>
                <a:latin typeface="Times New Roman" panose="02020603050405020304" pitchFamily="18" charset="0"/>
                <a:cs typeface="Times New Roman" panose="02020603050405020304" pitchFamily="18" charset="0"/>
              </a:rPr>
              <a:t>Smart Buck Converter       </a:t>
            </a:r>
            <a:r>
              <a:rPr lang="en-IN" sz="800" i="1" dirty="0">
                <a:solidFill>
                  <a:schemeClr val="bg1"/>
                </a:solidFill>
                <a:latin typeface="Times New Roman" panose="02020603050405020304" pitchFamily="18" charset="0"/>
                <a:cs typeface="Times New Roman" panose="02020603050405020304" pitchFamily="18" charset="0"/>
              </a:rPr>
              <a:t>04/2025</a:t>
            </a:r>
          </a:p>
          <a:p>
            <a:pPr marL="171450" lvl="0" indent="-171450">
              <a:buFont typeface="Arial" panose="020B0604020202020204" pitchFamily="34" charset="0"/>
              <a:buChar char="•"/>
            </a:pPr>
            <a:r>
              <a:rPr lang="en-IN" sz="1000" dirty="0">
                <a:solidFill>
                  <a:schemeClr val="bg1"/>
                </a:solidFill>
                <a:latin typeface="Times New Roman" panose="02020603050405020304" pitchFamily="18" charset="0"/>
                <a:cs typeface="Times New Roman" panose="02020603050405020304" pitchFamily="18" charset="0"/>
              </a:rPr>
              <a:t>Role: Embedded Firmware Developer</a:t>
            </a:r>
          </a:p>
          <a:p>
            <a:pPr marL="171450" indent="-171450">
              <a:buFont typeface="Arial" panose="020B0604020202020204" pitchFamily="34" charset="0"/>
              <a:buChar char="•"/>
            </a:pPr>
            <a:r>
              <a:rPr lang="en-IN" sz="1000" dirty="0">
                <a:solidFill>
                  <a:schemeClr val="bg1"/>
                </a:solidFill>
                <a:latin typeface="Times New Roman" panose="02020603050405020304" pitchFamily="18" charset="0"/>
                <a:cs typeface="Times New Roman" panose="02020603050405020304" pitchFamily="18" charset="0"/>
              </a:rPr>
              <a:t>Description: Designed and developed a smart buck converter capable of automatically adjusting output voltage based on scanned RFID tags attached to electronic components. Utilized ESP32, LM2956 Buck Converter IC, multiplexers, resistors, RFID modules, and Arduino IDE for implementation and control.</a:t>
            </a:r>
          </a:p>
          <a:p>
            <a:pPr marL="171450" lvl="0" indent="-171450">
              <a:lnSpc>
                <a:spcPct val="150000"/>
              </a:lnSpc>
              <a:buFont typeface="Arial" panose="020B0604020202020204" pitchFamily="34" charset="0"/>
              <a:buChar char="•"/>
            </a:pPr>
            <a:endParaRPr lang="en-IN" sz="1200"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20" name="Rectangle: Rounded Corners 19">
            <a:extLst>
              <a:ext uri="{FF2B5EF4-FFF2-40B4-BE49-F238E27FC236}">
                <a16:creationId xmlns:a16="http://schemas.microsoft.com/office/drawing/2014/main" id="{2A8994C6-A7B5-ACBF-1E1B-205396E6069F}"/>
              </a:ext>
            </a:extLst>
          </p:cNvPr>
          <p:cNvSpPr/>
          <p:nvPr/>
        </p:nvSpPr>
        <p:spPr>
          <a:xfrm>
            <a:off x="4639056" y="1599628"/>
            <a:ext cx="1911604" cy="2099065"/>
          </a:xfrm>
          <a:prstGeom prst="roundRect">
            <a:avLst/>
          </a:prstGeom>
          <a:solidFill>
            <a:srgbClr val="293A4A"/>
          </a:solidFill>
          <a:ln>
            <a:solidFill>
              <a:srgbClr val="293A4A"/>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FC38D5B6-5820-1A51-9B6C-B81A657A1AF4}"/>
              </a:ext>
            </a:extLst>
          </p:cNvPr>
          <p:cNvSpPr txBox="1"/>
          <p:nvPr/>
        </p:nvSpPr>
        <p:spPr>
          <a:xfrm>
            <a:off x="4735068" y="1529969"/>
            <a:ext cx="1731264" cy="2154436"/>
          </a:xfrm>
          <a:prstGeom prst="rect">
            <a:avLst/>
          </a:prstGeom>
          <a:noFill/>
        </p:spPr>
        <p:txBody>
          <a:bodyPr wrap="square" rtlCol="0">
            <a:spAutoFit/>
          </a:bodyPr>
          <a:lstStyle/>
          <a:p>
            <a:pPr>
              <a:lnSpc>
                <a:spcPct val="200000"/>
              </a:lnSpc>
            </a:pPr>
            <a:r>
              <a:rPr lang="en-IN" sz="1200" dirty="0">
                <a:solidFill>
                  <a:srgbClr val="647587"/>
                </a:solidFill>
                <a:latin typeface="Times New Roman" panose="02020603050405020304" pitchFamily="18" charset="0"/>
                <a:cs typeface="Times New Roman" panose="02020603050405020304" pitchFamily="18" charset="0"/>
              </a:rPr>
              <a:t>EDUCATION</a:t>
            </a:r>
          </a:p>
          <a:p>
            <a:pPr marL="171450" indent="-171450">
              <a:buFont typeface="Arial" panose="020B0604020202020204" pitchFamily="34" charset="0"/>
              <a:buChar char="•"/>
            </a:pPr>
            <a:r>
              <a:rPr lang="en-IN" sz="1000" dirty="0">
                <a:solidFill>
                  <a:schemeClr val="bg1"/>
                </a:solidFill>
                <a:latin typeface="Times New Roman" panose="02020603050405020304" pitchFamily="18" charset="0"/>
                <a:cs typeface="Times New Roman" panose="02020603050405020304" pitchFamily="18" charset="0"/>
              </a:rPr>
              <a:t>B.E EEE MEPCO Schlenk Engineering College. </a:t>
            </a:r>
          </a:p>
          <a:p>
            <a:r>
              <a:rPr lang="en-IN" sz="1000" dirty="0">
                <a:solidFill>
                  <a:schemeClr val="bg1"/>
                </a:solidFill>
                <a:latin typeface="Times New Roman" panose="02020603050405020304" pitchFamily="18" charset="0"/>
                <a:cs typeface="Times New Roman" panose="02020603050405020304" pitchFamily="18" charset="0"/>
              </a:rPr>
              <a:t>          </a:t>
            </a:r>
            <a:r>
              <a:rPr lang="en-IN" sz="800" i="1" dirty="0">
                <a:solidFill>
                  <a:schemeClr val="bg1"/>
                </a:solidFill>
                <a:latin typeface="Times New Roman" panose="02020603050405020304" pitchFamily="18" charset="0"/>
                <a:cs typeface="Times New Roman" panose="02020603050405020304" pitchFamily="18" charset="0"/>
              </a:rPr>
              <a:t>2022-2026     Sivakasi</a:t>
            </a:r>
          </a:p>
          <a:p>
            <a:pPr marL="171450" indent="-171450">
              <a:buFont typeface="Arial" panose="020B0604020202020204" pitchFamily="34" charset="0"/>
              <a:buChar char="•"/>
            </a:pPr>
            <a:endParaRPr lang="en-IN" sz="1000" dirty="0">
              <a:solidFill>
                <a:schemeClr val="bg1"/>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IN" sz="1000" dirty="0">
                <a:solidFill>
                  <a:schemeClr val="bg1"/>
                </a:solidFill>
                <a:latin typeface="Times New Roman" panose="02020603050405020304" pitchFamily="18" charset="0"/>
                <a:cs typeface="Times New Roman" panose="02020603050405020304" pitchFamily="18" charset="0"/>
              </a:rPr>
              <a:t>HSC – Srivi Lions Matric . HR . Sec . School.     </a:t>
            </a:r>
            <a:r>
              <a:rPr lang="en-IN" sz="600" i="1" dirty="0">
                <a:solidFill>
                  <a:schemeClr val="bg1"/>
                </a:solidFill>
                <a:latin typeface="Times New Roman" panose="02020603050405020304" pitchFamily="18" charset="0"/>
                <a:cs typeface="Times New Roman" panose="02020603050405020304" pitchFamily="18" charset="0"/>
              </a:rPr>
              <a:t>83%</a:t>
            </a:r>
          </a:p>
          <a:p>
            <a:r>
              <a:rPr lang="en-IN" sz="1000" dirty="0">
                <a:solidFill>
                  <a:schemeClr val="bg1"/>
                </a:solidFill>
                <a:latin typeface="Times New Roman" panose="02020603050405020304" pitchFamily="18" charset="0"/>
                <a:cs typeface="Times New Roman" panose="02020603050405020304" pitchFamily="18" charset="0"/>
              </a:rPr>
              <a:t>          </a:t>
            </a:r>
            <a:r>
              <a:rPr lang="en-IN" sz="800" i="1" dirty="0">
                <a:solidFill>
                  <a:schemeClr val="bg1"/>
                </a:solidFill>
                <a:latin typeface="Times New Roman" panose="02020603050405020304" pitchFamily="18" charset="0"/>
                <a:cs typeface="Times New Roman" panose="02020603050405020304" pitchFamily="18" charset="0"/>
              </a:rPr>
              <a:t>2021-2022     </a:t>
            </a:r>
            <a:r>
              <a:rPr lang="en-IN" sz="800" i="1" dirty="0" err="1">
                <a:solidFill>
                  <a:schemeClr val="bg1"/>
                </a:solidFill>
                <a:latin typeface="Times New Roman" panose="02020603050405020304" pitchFamily="18" charset="0"/>
                <a:cs typeface="Times New Roman" panose="02020603050405020304" pitchFamily="18" charset="0"/>
              </a:rPr>
              <a:t>Srivilliputtur</a:t>
            </a:r>
            <a:endParaRPr lang="en-IN" sz="1000" i="1" dirty="0">
              <a:solidFill>
                <a:schemeClr val="bg1"/>
              </a:solidFill>
              <a:latin typeface="Times New Roman" panose="02020603050405020304" pitchFamily="18" charset="0"/>
              <a:cs typeface="Times New Roman" panose="02020603050405020304" pitchFamily="18" charset="0"/>
            </a:endParaRPr>
          </a:p>
          <a:p>
            <a:endParaRPr lang="en-IN" sz="1000" dirty="0">
              <a:solidFill>
                <a:schemeClr val="bg1"/>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IN" sz="1000" dirty="0">
                <a:solidFill>
                  <a:schemeClr val="bg1"/>
                </a:solidFill>
                <a:latin typeface="Times New Roman" panose="02020603050405020304" pitchFamily="18" charset="0"/>
                <a:cs typeface="Times New Roman" panose="02020603050405020304" pitchFamily="18" charset="0"/>
              </a:rPr>
              <a:t>SSC – Srivi Lions Matric . HR . Sec . School.    </a:t>
            </a:r>
            <a:r>
              <a:rPr lang="en-IN" sz="600" i="1" dirty="0">
                <a:solidFill>
                  <a:schemeClr val="bg1"/>
                </a:solidFill>
                <a:latin typeface="Times New Roman" panose="02020603050405020304" pitchFamily="18" charset="0"/>
                <a:cs typeface="Times New Roman" panose="02020603050405020304" pitchFamily="18" charset="0"/>
              </a:rPr>
              <a:t>72%</a:t>
            </a:r>
          </a:p>
          <a:p>
            <a:r>
              <a:rPr lang="en-IN" sz="1000" dirty="0">
                <a:solidFill>
                  <a:schemeClr val="bg1"/>
                </a:solidFill>
                <a:latin typeface="Times New Roman" panose="02020603050405020304" pitchFamily="18" charset="0"/>
                <a:cs typeface="Times New Roman" panose="02020603050405020304" pitchFamily="18" charset="0"/>
              </a:rPr>
              <a:t>          </a:t>
            </a:r>
            <a:r>
              <a:rPr lang="en-IN" sz="800" i="1" dirty="0">
                <a:solidFill>
                  <a:schemeClr val="bg1"/>
                </a:solidFill>
                <a:latin typeface="Times New Roman" panose="02020603050405020304" pitchFamily="18" charset="0"/>
                <a:cs typeface="Times New Roman" panose="02020603050405020304" pitchFamily="18" charset="0"/>
              </a:rPr>
              <a:t>2019-2020     </a:t>
            </a:r>
            <a:r>
              <a:rPr lang="en-IN" sz="800" i="1" dirty="0" err="1">
                <a:solidFill>
                  <a:schemeClr val="bg1"/>
                </a:solidFill>
                <a:latin typeface="Times New Roman" panose="02020603050405020304" pitchFamily="18" charset="0"/>
                <a:cs typeface="Times New Roman" panose="02020603050405020304" pitchFamily="18" charset="0"/>
              </a:rPr>
              <a:t>Srivilliputtur</a:t>
            </a:r>
            <a:endParaRPr lang="en-IN" sz="800" i="1" dirty="0">
              <a:solidFill>
                <a:schemeClr val="bg1"/>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275B66D1-496C-5B02-9CFB-744016FF6DD7}"/>
              </a:ext>
            </a:extLst>
          </p:cNvPr>
          <p:cNvSpPr txBox="1"/>
          <p:nvPr/>
        </p:nvSpPr>
        <p:spPr>
          <a:xfrm>
            <a:off x="4724400" y="3875035"/>
            <a:ext cx="1731264" cy="2000548"/>
          </a:xfrm>
          <a:prstGeom prst="rect">
            <a:avLst/>
          </a:prstGeom>
          <a:noFill/>
        </p:spPr>
        <p:txBody>
          <a:bodyPr wrap="square" rtlCol="0">
            <a:spAutoFit/>
          </a:bodyPr>
          <a:lstStyle/>
          <a:p>
            <a:r>
              <a:rPr lang="en-IN" sz="1200" dirty="0">
                <a:solidFill>
                  <a:srgbClr val="647587"/>
                </a:solidFill>
                <a:latin typeface="Times New Roman" panose="02020603050405020304" pitchFamily="18" charset="0"/>
                <a:cs typeface="Times New Roman" panose="02020603050405020304" pitchFamily="18" charset="0"/>
              </a:rPr>
              <a:t>COURSES</a:t>
            </a:r>
          </a:p>
          <a:p>
            <a:endParaRPr lang="en-IN" sz="1200" dirty="0">
              <a:solidFill>
                <a:srgbClr val="647587"/>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IN" sz="1000" dirty="0">
                <a:solidFill>
                  <a:schemeClr val="bg1"/>
                </a:solidFill>
                <a:latin typeface="Times New Roman" panose="02020603050405020304" pitchFamily="18" charset="0"/>
                <a:cs typeface="Times New Roman" panose="02020603050405020304" pitchFamily="18" charset="0"/>
              </a:rPr>
              <a:t>Programming in Java  </a:t>
            </a:r>
            <a:r>
              <a:rPr lang="en-IN" sz="800" dirty="0">
                <a:solidFill>
                  <a:schemeClr val="bg1"/>
                </a:solidFill>
                <a:latin typeface="Times New Roman" panose="02020603050405020304" pitchFamily="18" charset="0"/>
                <a:cs typeface="Times New Roman" panose="02020603050405020304" pitchFamily="18" charset="0"/>
              </a:rPr>
              <a:t>(NPTEL)</a:t>
            </a:r>
          </a:p>
          <a:p>
            <a:endParaRPr lang="en-IN" sz="1000" dirty="0">
              <a:solidFill>
                <a:schemeClr val="bg1"/>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IN" sz="1000" dirty="0">
                <a:solidFill>
                  <a:schemeClr val="bg1"/>
                </a:solidFill>
                <a:latin typeface="Times New Roman" panose="02020603050405020304" pitchFamily="18" charset="0"/>
                <a:cs typeface="Times New Roman" panose="02020603050405020304" pitchFamily="18" charset="0"/>
              </a:rPr>
              <a:t>Joy of Computing Using Python </a:t>
            </a:r>
            <a:r>
              <a:rPr lang="en-IN" sz="800" dirty="0">
                <a:solidFill>
                  <a:schemeClr val="bg1"/>
                </a:solidFill>
                <a:latin typeface="Times New Roman" panose="02020603050405020304" pitchFamily="18" charset="0"/>
                <a:cs typeface="Times New Roman" panose="02020603050405020304" pitchFamily="18" charset="0"/>
              </a:rPr>
              <a:t>(NPTEL)</a:t>
            </a:r>
          </a:p>
          <a:p>
            <a:pPr marL="171450" indent="-171450">
              <a:buFont typeface="Arial" panose="020B0604020202020204" pitchFamily="34" charset="0"/>
              <a:buChar char="•"/>
            </a:pPr>
            <a:endParaRPr lang="en-IN" sz="1000" dirty="0">
              <a:solidFill>
                <a:schemeClr val="bg1"/>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IN" sz="1000" dirty="0">
                <a:solidFill>
                  <a:schemeClr val="bg1"/>
                </a:solidFill>
                <a:latin typeface="Times New Roman" panose="02020603050405020304" pitchFamily="18" charset="0"/>
                <a:cs typeface="Times New Roman" panose="02020603050405020304" pitchFamily="18" charset="0"/>
              </a:rPr>
              <a:t>C Programming </a:t>
            </a:r>
            <a:r>
              <a:rPr lang="en-IN" sz="800" dirty="0">
                <a:solidFill>
                  <a:schemeClr val="bg1"/>
                </a:solidFill>
                <a:latin typeface="Times New Roman" panose="02020603050405020304" pitchFamily="18" charset="0"/>
                <a:cs typeface="Times New Roman" panose="02020603050405020304" pitchFamily="18" charset="0"/>
              </a:rPr>
              <a:t>(ALPHA)</a:t>
            </a:r>
          </a:p>
          <a:p>
            <a:pPr marL="171450" indent="-171450">
              <a:buFont typeface="Arial" panose="020B0604020202020204" pitchFamily="34" charset="0"/>
              <a:buChar char="•"/>
            </a:pPr>
            <a:endParaRPr lang="en-IN" sz="1000" dirty="0">
              <a:solidFill>
                <a:schemeClr val="bg1"/>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IN" sz="1000" dirty="0">
                <a:solidFill>
                  <a:schemeClr val="bg1"/>
                </a:solidFill>
                <a:latin typeface="Times New Roman" panose="02020603050405020304" pitchFamily="18" charset="0"/>
                <a:cs typeface="Times New Roman" panose="02020603050405020304" pitchFamily="18" charset="0"/>
              </a:rPr>
              <a:t>Solved 150+ Problems in Hacker rank</a:t>
            </a:r>
          </a:p>
        </p:txBody>
      </p:sp>
      <p:sp>
        <p:nvSpPr>
          <p:cNvPr id="25" name="TextBox 24">
            <a:extLst>
              <a:ext uri="{FF2B5EF4-FFF2-40B4-BE49-F238E27FC236}">
                <a16:creationId xmlns:a16="http://schemas.microsoft.com/office/drawing/2014/main" id="{0424A196-6A35-98D4-EB80-17A7B4874EB3}"/>
              </a:ext>
            </a:extLst>
          </p:cNvPr>
          <p:cNvSpPr txBox="1"/>
          <p:nvPr/>
        </p:nvSpPr>
        <p:spPr>
          <a:xfrm>
            <a:off x="4711591" y="5935799"/>
            <a:ext cx="1731264" cy="769441"/>
          </a:xfrm>
          <a:prstGeom prst="rect">
            <a:avLst/>
          </a:prstGeom>
          <a:noFill/>
        </p:spPr>
        <p:txBody>
          <a:bodyPr wrap="square" rtlCol="0">
            <a:spAutoFit/>
          </a:bodyPr>
          <a:lstStyle/>
          <a:p>
            <a:r>
              <a:rPr lang="en-IN" sz="1200" dirty="0">
                <a:solidFill>
                  <a:srgbClr val="647587"/>
                </a:solidFill>
                <a:latin typeface="Times New Roman" panose="02020603050405020304" pitchFamily="18" charset="0"/>
                <a:cs typeface="Times New Roman" panose="02020603050405020304" pitchFamily="18" charset="0"/>
              </a:rPr>
              <a:t>SKILLS</a:t>
            </a:r>
          </a:p>
          <a:p>
            <a:endParaRPr lang="en-IN" sz="1200" dirty="0">
              <a:solidFill>
                <a:schemeClr val="tx1">
                  <a:lumMod val="50000"/>
                  <a:lumOff val="50000"/>
                </a:schemeClr>
              </a:solidFill>
              <a:latin typeface="Times New Roman" panose="02020603050405020304" pitchFamily="18" charset="0"/>
              <a:cs typeface="Times New Roman" panose="02020603050405020304" pitchFamily="18" charset="0"/>
            </a:endParaRPr>
          </a:p>
          <a:p>
            <a:r>
              <a:rPr lang="en-IN" sz="1000" dirty="0">
                <a:solidFill>
                  <a:schemeClr val="bg1"/>
                </a:solidFill>
                <a:latin typeface="Times New Roman" panose="02020603050405020304" pitchFamily="18" charset="0"/>
                <a:cs typeface="Times New Roman" panose="02020603050405020304" pitchFamily="18" charset="0"/>
              </a:rPr>
              <a:t>Java | C | C++ | Python | PCB Design | Data Structures</a:t>
            </a:r>
            <a:endParaRPr lang="en-IN" sz="1200" dirty="0">
              <a:solidFill>
                <a:schemeClr val="bg1"/>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D1BE257F-0100-ACF1-FFB2-DAB456E4C51D}"/>
              </a:ext>
            </a:extLst>
          </p:cNvPr>
          <p:cNvSpPr txBox="1"/>
          <p:nvPr/>
        </p:nvSpPr>
        <p:spPr>
          <a:xfrm>
            <a:off x="4705350" y="8846239"/>
            <a:ext cx="1755648" cy="664862"/>
          </a:xfrm>
          <a:prstGeom prst="rect">
            <a:avLst/>
          </a:prstGeom>
          <a:noFill/>
        </p:spPr>
        <p:txBody>
          <a:bodyPr wrap="square" rtlCol="0">
            <a:spAutoFit/>
          </a:bodyPr>
          <a:lstStyle/>
          <a:p>
            <a:r>
              <a:rPr lang="en-IN" sz="1200" dirty="0">
                <a:solidFill>
                  <a:srgbClr val="647587"/>
                </a:solidFill>
                <a:latin typeface="Times New Roman" panose="02020603050405020304" pitchFamily="18" charset="0"/>
                <a:cs typeface="Times New Roman" panose="02020603050405020304" pitchFamily="18" charset="0"/>
              </a:rPr>
              <a:t>LANGUAGES</a:t>
            </a:r>
          </a:p>
          <a:p>
            <a:endParaRPr lang="en-IN" sz="1200" dirty="0">
              <a:solidFill>
                <a:srgbClr val="647587"/>
              </a:solidFill>
              <a:latin typeface="Times New Roman" panose="02020603050405020304" pitchFamily="18" charset="0"/>
              <a:cs typeface="Times New Roman" panose="02020603050405020304" pitchFamily="18" charset="0"/>
            </a:endParaRPr>
          </a:p>
          <a:p>
            <a:pPr>
              <a:lnSpc>
                <a:spcPct val="150000"/>
              </a:lnSpc>
            </a:pPr>
            <a:r>
              <a:rPr lang="en-IN" sz="1000" dirty="0">
                <a:solidFill>
                  <a:schemeClr val="bg1"/>
                </a:solidFill>
                <a:latin typeface="Times New Roman" panose="02020603050405020304" pitchFamily="18" charset="0"/>
                <a:cs typeface="Times New Roman" panose="02020603050405020304" pitchFamily="18" charset="0"/>
              </a:rPr>
              <a:t>Tamil | Telugu | English</a:t>
            </a:r>
          </a:p>
        </p:txBody>
      </p:sp>
      <p:sp>
        <p:nvSpPr>
          <p:cNvPr id="29" name="TextBox 28">
            <a:extLst>
              <a:ext uri="{FF2B5EF4-FFF2-40B4-BE49-F238E27FC236}">
                <a16:creationId xmlns:a16="http://schemas.microsoft.com/office/drawing/2014/main" id="{F4B0D488-D971-2DD0-191F-3E604576C343}"/>
              </a:ext>
            </a:extLst>
          </p:cNvPr>
          <p:cNvSpPr txBox="1"/>
          <p:nvPr/>
        </p:nvSpPr>
        <p:spPr>
          <a:xfrm>
            <a:off x="288671" y="5936721"/>
            <a:ext cx="4044823" cy="1392689"/>
          </a:xfrm>
          <a:prstGeom prst="rect">
            <a:avLst/>
          </a:prstGeom>
          <a:noFill/>
        </p:spPr>
        <p:txBody>
          <a:bodyPr wrap="square" rtlCol="0">
            <a:spAutoFit/>
          </a:bodyPr>
          <a:lstStyle/>
          <a:p>
            <a:pPr>
              <a:lnSpc>
                <a:spcPct val="150000"/>
              </a:lnSpc>
            </a:pPr>
            <a:r>
              <a:rPr lang="en-IN" sz="1200" b="1" dirty="0">
                <a:solidFill>
                  <a:srgbClr val="647587"/>
                </a:solidFill>
                <a:latin typeface="Times New Roman" panose="02020603050405020304" pitchFamily="18" charset="0"/>
                <a:cs typeface="Times New Roman" panose="02020603050405020304" pitchFamily="18" charset="0"/>
              </a:rPr>
              <a:t>TRAINING</a:t>
            </a:r>
            <a:endParaRPr lang="en-IN" sz="1200" dirty="0">
              <a:solidFill>
                <a:srgbClr val="647587"/>
              </a:solidFill>
              <a:latin typeface="Times New Roman" panose="02020603050405020304" pitchFamily="18" charset="0"/>
              <a:cs typeface="Times New Roman" panose="02020603050405020304" pitchFamily="18" charset="0"/>
            </a:endParaRPr>
          </a:p>
          <a:p>
            <a:pPr>
              <a:lnSpc>
                <a:spcPct val="150000"/>
              </a:lnSpc>
            </a:pPr>
            <a:r>
              <a:rPr lang="en-US" sz="1100" dirty="0">
                <a:solidFill>
                  <a:schemeClr val="bg1"/>
                </a:solidFill>
                <a:latin typeface="Times New Roman" panose="02020603050405020304" pitchFamily="18" charset="0"/>
                <a:cs typeface="Times New Roman" panose="02020603050405020304" pitchFamily="18" charset="0"/>
              </a:rPr>
              <a:t>Indian Institute of Astrophysics    </a:t>
            </a:r>
            <a:r>
              <a:rPr lang="en-US" sz="800" i="1" dirty="0">
                <a:solidFill>
                  <a:schemeClr val="bg1"/>
                </a:solidFill>
                <a:latin typeface="Times New Roman" panose="02020603050405020304" pitchFamily="18" charset="0"/>
                <a:cs typeface="Times New Roman" panose="02020603050405020304" pitchFamily="18" charset="0"/>
              </a:rPr>
              <a:t>Kodaikanal</a:t>
            </a:r>
          </a:p>
          <a:p>
            <a:pPr marL="171450" indent="-171450">
              <a:buFont typeface="Arial" panose="020B0604020202020204" pitchFamily="34" charset="0"/>
              <a:buChar char="•"/>
            </a:pPr>
            <a:r>
              <a:rPr lang="en-US" sz="1000" dirty="0">
                <a:solidFill>
                  <a:schemeClr val="bg1"/>
                </a:solidFill>
                <a:latin typeface="Times New Roman" panose="02020603050405020304" pitchFamily="18" charset="0"/>
                <a:cs typeface="Times New Roman" panose="02020603050405020304" pitchFamily="18" charset="0"/>
              </a:rPr>
              <a:t>Completed a short-term in-plant training focused on radio interferometry and its application in astrophysics. Gained exposure to how coordinated telescope arrays are used to capture high-resolution images of celestial objects, including black holes, through techniques employed by systems like the Event Horizon Telescope (EHT).</a:t>
            </a:r>
            <a:endParaRPr lang="en-IN" sz="1000" dirty="0">
              <a:solidFill>
                <a:schemeClr val="bg1"/>
              </a:solidFill>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D8E9C3F5-F924-020D-A8EA-5D25FA0E6295}"/>
              </a:ext>
            </a:extLst>
          </p:cNvPr>
          <p:cNvSpPr txBox="1"/>
          <p:nvPr/>
        </p:nvSpPr>
        <p:spPr>
          <a:xfrm>
            <a:off x="287086" y="7406244"/>
            <a:ext cx="4044823" cy="961802"/>
          </a:xfrm>
          <a:prstGeom prst="rect">
            <a:avLst/>
          </a:prstGeom>
          <a:noFill/>
        </p:spPr>
        <p:txBody>
          <a:bodyPr wrap="square" rtlCol="0">
            <a:spAutoFit/>
          </a:bodyPr>
          <a:lstStyle/>
          <a:p>
            <a:pPr>
              <a:lnSpc>
                <a:spcPct val="150000"/>
              </a:lnSpc>
            </a:pPr>
            <a:r>
              <a:rPr lang="en-IN" sz="1200" dirty="0">
                <a:solidFill>
                  <a:srgbClr val="647587"/>
                </a:solidFill>
                <a:latin typeface="Times New Roman" panose="02020603050405020304" pitchFamily="18" charset="0"/>
                <a:cs typeface="Times New Roman" panose="02020603050405020304" pitchFamily="18" charset="0"/>
              </a:rPr>
              <a:t>ACHIEVEMENTS</a:t>
            </a:r>
          </a:p>
          <a:p>
            <a:pPr>
              <a:lnSpc>
                <a:spcPct val="150000"/>
              </a:lnSpc>
            </a:pPr>
            <a:r>
              <a:rPr lang="en-US" sz="1100" dirty="0">
                <a:solidFill>
                  <a:schemeClr val="bg1"/>
                </a:solidFill>
                <a:latin typeface="Times New Roman" panose="02020603050405020304" pitchFamily="18" charset="0"/>
                <a:cs typeface="Times New Roman" panose="02020603050405020304" pitchFamily="18" charset="0"/>
              </a:rPr>
              <a:t>Finalist, Smart India Hackathon 2024 </a:t>
            </a:r>
          </a:p>
          <a:p>
            <a:pPr marL="171450" indent="-171450">
              <a:buFont typeface="Arial" panose="020B0604020202020204" pitchFamily="34" charset="0"/>
              <a:buChar char="•"/>
            </a:pPr>
            <a:r>
              <a:rPr lang="en-US" sz="1100" dirty="0">
                <a:solidFill>
                  <a:schemeClr val="bg1"/>
                </a:solidFill>
                <a:latin typeface="Times New Roman" panose="02020603050405020304" pitchFamily="18" charset="0"/>
                <a:cs typeface="Times New Roman" panose="02020603050405020304" pitchFamily="18" charset="0"/>
              </a:rPr>
              <a:t>Selected among top teams nationwide to present a tech solution in the Grand Finale round.</a:t>
            </a:r>
            <a:endParaRPr lang="en-IN" sz="1100" dirty="0">
              <a:solidFill>
                <a:schemeClr val="bg1"/>
              </a:solidFill>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728F08A2-E432-278E-FFD0-86639F6AA19F}"/>
              </a:ext>
            </a:extLst>
          </p:cNvPr>
          <p:cNvSpPr txBox="1"/>
          <p:nvPr/>
        </p:nvSpPr>
        <p:spPr>
          <a:xfrm>
            <a:off x="4668793" y="6766890"/>
            <a:ext cx="1766316" cy="1080360"/>
          </a:xfrm>
          <a:prstGeom prst="rect">
            <a:avLst/>
          </a:prstGeom>
          <a:noFill/>
        </p:spPr>
        <p:txBody>
          <a:bodyPr wrap="square" rtlCol="0">
            <a:spAutoFit/>
          </a:bodyPr>
          <a:lstStyle/>
          <a:p>
            <a:r>
              <a:rPr lang="en-IN" sz="1200" dirty="0">
                <a:solidFill>
                  <a:srgbClr val="647587"/>
                </a:solidFill>
                <a:latin typeface="Times New Roman" panose="02020603050405020304" pitchFamily="18" charset="0"/>
                <a:cs typeface="Times New Roman" panose="02020603050405020304" pitchFamily="18" charset="0"/>
              </a:rPr>
              <a:t>TOOLS &amp; TECHNOLOGIES</a:t>
            </a:r>
          </a:p>
          <a:p>
            <a:endParaRPr lang="en-IN" sz="1200" dirty="0">
              <a:solidFill>
                <a:srgbClr val="647587"/>
              </a:solidFill>
              <a:latin typeface="Times New Roman" panose="02020603050405020304" pitchFamily="18" charset="0"/>
              <a:cs typeface="Times New Roman" panose="02020603050405020304" pitchFamily="18" charset="0"/>
            </a:endParaRPr>
          </a:p>
          <a:p>
            <a:pPr>
              <a:lnSpc>
                <a:spcPct val="150000"/>
              </a:lnSpc>
            </a:pPr>
            <a:r>
              <a:rPr lang="en-IN" sz="1000" dirty="0" err="1">
                <a:solidFill>
                  <a:schemeClr val="bg1"/>
                </a:solidFill>
                <a:latin typeface="Times New Roman" panose="02020603050405020304" pitchFamily="18" charset="0"/>
                <a:cs typeface="Times New Roman" panose="02020603050405020304" pitchFamily="18" charset="0"/>
              </a:rPr>
              <a:t>KiCad</a:t>
            </a:r>
            <a:r>
              <a:rPr lang="en-IN" sz="1000" dirty="0">
                <a:solidFill>
                  <a:schemeClr val="bg1"/>
                </a:solidFill>
                <a:latin typeface="Times New Roman" panose="02020603050405020304" pitchFamily="18" charset="0"/>
                <a:cs typeface="Times New Roman" panose="02020603050405020304" pitchFamily="18" charset="0"/>
              </a:rPr>
              <a:t> | Arduino | Edge Impulse | </a:t>
            </a:r>
            <a:r>
              <a:rPr lang="en-IN" sz="1000" dirty="0" err="1">
                <a:solidFill>
                  <a:schemeClr val="bg1"/>
                </a:solidFill>
                <a:latin typeface="Times New Roman" panose="02020603050405020304" pitchFamily="18" charset="0"/>
                <a:cs typeface="Times New Roman" panose="02020603050405020304" pitchFamily="18" charset="0"/>
              </a:rPr>
              <a:t>Filmora</a:t>
            </a:r>
            <a:r>
              <a:rPr lang="en-IN" sz="1000" dirty="0">
                <a:solidFill>
                  <a:schemeClr val="bg1"/>
                </a:solidFill>
                <a:latin typeface="Times New Roman" panose="02020603050405020304" pitchFamily="18" charset="0"/>
                <a:cs typeface="Times New Roman" panose="02020603050405020304" pitchFamily="18" charset="0"/>
              </a:rPr>
              <a:t> </a:t>
            </a:r>
          </a:p>
        </p:txBody>
      </p:sp>
      <p:sp>
        <p:nvSpPr>
          <p:cNvPr id="39" name="TextBox 38">
            <a:extLst>
              <a:ext uri="{FF2B5EF4-FFF2-40B4-BE49-F238E27FC236}">
                <a16:creationId xmlns:a16="http://schemas.microsoft.com/office/drawing/2014/main" id="{CB06CDF2-EDA0-164D-F08E-50D5EB4520E9}"/>
              </a:ext>
            </a:extLst>
          </p:cNvPr>
          <p:cNvSpPr txBox="1"/>
          <p:nvPr/>
        </p:nvSpPr>
        <p:spPr>
          <a:xfrm>
            <a:off x="4646041" y="7882598"/>
            <a:ext cx="1755648" cy="1126527"/>
          </a:xfrm>
          <a:prstGeom prst="rect">
            <a:avLst/>
          </a:prstGeom>
          <a:noFill/>
        </p:spPr>
        <p:txBody>
          <a:bodyPr wrap="square" rtlCol="0">
            <a:spAutoFit/>
          </a:bodyPr>
          <a:lstStyle/>
          <a:p>
            <a:r>
              <a:rPr lang="en-IN" sz="1200" dirty="0">
                <a:solidFill>
                  <a:srgbClr val="647587"/>
                </a:solidFill>
                <a:latin typeface="Times New Roman" panose="02020603050405020304" pitchFamily="18" charset="0"/>
                <a:cs typeface="Times New Roman" panose="02020603050405020304" pitchFamily="18" charset="0"/>
              </a:rPr>
              <a:t>PERSONAL TRAITS</a:t>
            </a:r>
          </a:p>
          <a:p>
            <a:endParaRPr lang="en-IN" sz="1200" dirty="0">
              <a:solidFill>
                <a:srgbClr val="647587"/>
              </a:solidFill>
              <a:latin typeface="Times New Roman" panose="02020603050405020304" pitchFamily="18" charset="0"/>
              <a:cs typeface="Times New Roman" panose="02020603050405020304" pitchFamily="18" charset="0"/>
            </a:endParaRPr>
          </a:p>
          <a:p>
            <a:r>
              <a:rPr lang="en-IN" sz="1000" dirty="0">
                <a:solidFill>
                  <a:schemeClr val="bg1"/>
                </a:solidFill>
                <a:latin typeface="Times New Roman" panose="02020603050405020304" pitchFamily="18" charset="0"/>
                <a:cs typeface="Times New Roman" panose="02020603050405020304" pitchFamily="18" charset="0"/>
              </a:rPr>
              <a:t>Adaptable | Socio-Friendly | Good Communicator | Problem Solving | Team Work</a:t>
            </a:r>
          </a:p>
          <a:p>
            <a:pPr>
              <a:lnSpc>
                <a:spcPct val="150000"/>
              </a:lnSpc>
            </a:pPr>
            <a:endParaRPr lang="en-IN" sz="1000" dirty="0">
              <a:solidFill>
                <a:schemeClr val="bg1"/>
              </a:solidFill>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F72732B2-32B7-6966-1BA3-E2BB759109DC}"/>
              </a:ext>
            </a:extLst>
          </p:cNvPr>
          <p:cNvSpPr txBox="1"/>
          <p:nvPr/>
        </p:nvSpPr>
        <p:spPr>
          <a:xfrm>
            <a:off x="4735068" y="3845560"/>
            <a:ext cx="904011" cy="369332"/>
          </a:xfrm>
          <a:prstGeom prst="rect">
            <a:avLst/>
          </a:prstGeom>
          <a:noFill/>
        </p:spPr>
        <p:txBody>
          <a:bodyPr wrap="square" rtlCol="0">
            <a:spAutoFit/>
          </a:bodyPr>
          <a:lstStyle/>
          <a:p>
            <a:r>
              <a:rPr lang="en-IN" dirty="0">
                <a:solidFill>
                  <a:srgbClr val="647587"/>
                </a:solidFill>
              </a:rPr>
              <a:t>______</a:t>
            </a:r>
          </a:p>
        </p:txBody>
      </p:sp>
      <p:sp>
        <p:nvSpPr>
          <p:cNvPr id="47" name="TextBox 46">
            <a:extLst>
              <a:ext uri="{FF2B5EF4-FFF2-40B4-BE49-F238E27FC236}">
                <a16:creationId xmlns:a16="http://schemas.microsoft.com/office/drawing/2014/main" id="{2FDD920D-4C12-1577-765B-B0448074BC3E}"/>
              </a:ext>
            </a:extLst>
          </p:cNvPr>
          <p:cNvSpPr txBox="1"/>
          <p:nvPr/>
        </p:nvSpPr>
        <p:spPr>
          <a:xfrm>
            <a:off x="4691609" y="5882639"/>
            <a:ext cx="904011" cy="369332"/>
          </a:xfrm>
          <a:prstGeom prst="rect">
            <a:avLst/>
          </a:prstGeom>
          <a:noFill/>
        </p:spPr>
        <p:txBody>
          <a:bodyPr wrap="square" rtlCol="0">
            <a:spAutoFit/>
          </a:bodyPr>
          <a:lstStyle/>
          <a:p>
            <a:r>
              <a:rPr lang="en-IN" dirty="0">
                <a:solidFill>
                  <a:srgbClr val="647587"/>
                </a:solidFill>
              </a:rPr>
              <a:t>_____</a:t>
            </a:r>
          </a:p>
        </p:txBody>
      </p:sp>
      <p:sp>
        <p:nvSpPr>
          <p:cNvPr id="48" name="TextBox 47">
            <a:extLst>
              <a:ext uri="{FF2B5EF4-FFF2-40B4-BE49-F238E27FC236}">
                <a16:creationId xmlns:a16="http://schemas.microsoft.com/office/drawing/2014/main" id="{0A068786-C74C-36D6-6BAE-81F9371E613B}"/>
              </a:ext>
            </a:extLst>
          </p:cNvPr>
          <p:cNvSpPr txBox="1"/>
          <p:nvPr/>
        </p:nvSpPr>
        <p:spPr>
          <a:xfrm>
            <a:off x="4661129" y="6709409"/>
            <a:ext cx="1353591" cy="369332"/>
          </a:xfrm>
          <a:prstGeom prst="rect">
            <a:avLst/>
          </a:prstGeom>
          <a:noFill/>
        </p:spPr>
        <p:txBody>
          <a:bodyPr wrap="square" rtlCol="0">
            <a:spAutoFit/>
          </a:bodyPr>
          <a:lstStyle/>
          <a:p>
            <a:r>
              <a:rPr lang="en-IN" dirty="0">
                <a:solidFill>
                  <a:srgbClr val="647587"/>
                </a:solidFill>
              </a:rPr>
              <a:t>______</a:t>
            </a:r>
          </a:p>
        </p:txBody>
      </p:sp>
      <p:sp>
        <p:nvSpPr>
          <p:cNvPr id="49" name="TextBox 48">
            <a:extLst>
              <a:ext uri="{FF2B5EF4-FFF2-40B4-BE49-F238E27FC236}">
                <a16:creationId xmlns:a16="http://schemas.microsoft.com/office/drawing/2014/main" id="{E9E01303-D3C4-E1E0-77FF-51199F18CD07}"/>
              </a:ext>
            </a:extLst>
          </p:cNvPr>
          <p:cNvSpPr txBox="1"/>
          <p:nvPr/>
        </p:nvSpPr>
        <p:spPr>
          <a:xfrm>
            <a:off x="4671289" y="6892289"/>
            <a:ext cx="1353591" cy="369332"/>
          </a:xfrm>
          <a:prstGeom prst="rect">
            <a:avLst/>
          </a:prstGeom>
          <a:noFill/>
        </p:spPr>
        <p:txBody>
          <a:bodyPr wrap="square" rtlCol="0">
            <a:spAutoFit/>
          </a:bodyPr>
          <a:lstStyle/>
          <a:p>
            <a:r>
              <a:rPr lang="en-IN" dirty="0">
                <a:solidFill>
                  <a:srgbClr val="647587"/>
                </a:solidFill>
              </a:rPr>
              <a:t>__________</a:t>
            </a:r>
          </a:p>
        </p:txBody>
      </p:sp>
      <p:sp>
        <p:nvSpPr>
          <p:cNvPr id="52" name="TextBox 51">
            <a:extLst>
              <a:ext uri="{FF2B5EF4-FFF2-40B4-BE49-F238E27FC236}">
                <a16:creationId xmlns:a16="http://schemas.microsoft.com/office/drawing/2014/main" id="{2027330B-BFA0-E4AB-24FB-AB82DEFDBC0E}"/>
              </a:ext>
            </a:extLst>
          </p:cNvPr>
          <p:cNvSpPr txBox="1"/>
          <p:nvPr/>
        </p:nvSpPr>
        <p:spPr>
          <a:xfrm>
            <a:off x="4645889" y="7837169"/>
            <a:ext cx="1582191" cy="369332"/>
          </a:xfrm>
          <a:prstGeom prst="rect">
            <a:avLst/>
          </a:prstGeom>
          <a:noFill/>
        </p:spPr>
        <p:txBody>
          <a:bodyPr wrap="square" rtlCol="0">
            <a:spAutoFit/>
          </a:bodyPr>
          <a:lstStyle/>
          <a:p>
            <a:r>
              <a:rPr lang="en-IN" dirty="0">
                <a:solidFill>
                  <a:srgbClr val="647587"/>
                </a:solidFill>
              </a:rPr>
              <a:t>____________</a:t>
            </a:r>
          </a:p>
        </p:txBody>
      </p:sp>
      <p:sp>
        <p:nvSpPr>
          <p:cNvPr id="53" name="TextBox 52">
            <a:extLst>
              <a:ext uri="{FF2B5EF4-FFF2-40B4-BE49-F238E27FC236}">
                <a16:creationId xmlns:a16="http://schemas.microsoft.com/office/drawing/2014/main" id="{70895806-4A17-C5BA-D43A-EA3E397DA4B9}"/>
              </a:ext>
            </a:extLst>
          </p:cNvPr>
          <p:cNvSpPr txBox="1"/>
          <p:nvPr/>
        </p:nvSpPr>
        <p:spPr>
          <a:xfrm>
            <a:off x="4701769" y="8797289"/>
            <a:ext cx="1582191" cy="369332"/>
          </a:xfrm>
          <a:prstGeom prst="rect">
            <a:avLst/>
          </a:prstGeom>
          <a:noFill/>
        </p:spPr>
        <p:txBody>
          <a:bodyPr wrap="square" rtlCol="0">
            <a:spAutoFit/>
          </a:bodyPr>
          <a:lstStyle/>
          <a:p>
            <a:r>
              <a:rPr lang="en-IN" dirty="0">
                <a:solidFill>
                  <a:srgbClr val="647587"/>
                </a:solidFill>
              </a:rPr>
              <a:t>________</a:t>
            </a:r>
          </a:p>
        </p:txBody>
      </p:sp>
      <p:sp>
        <p:nvSpPr>
          <p:cNvPr id="54" name="TextBox 53">
            <a:extLst>
              <a:ext uri="{FF2B5EF4-FFF2-40B4-BE49-F238E27FC236}">
                <a16:creationId xmlns:a16="http://schemas.microsoft.com/office/drawing/2014/main" id="{6FD566A5-9295-00A4-B41C-42A6310C0BA6}"/>
              </a:ext>
            </a:extLst>
          </p:cNvPr>
          <p:cNvSpPr txBox="1"/>
          <p:nvPr/>
        </p:nvSpPr>
        <p:spPr>
          <a:xfrm>
            <a:off x="4732249" y="1609089"/>
            <a:ext cx="1582191" cy="369332"/>
          </a:xfrm>
          <a:prstGeom prst="rect">
            <a:avLst/>
          </a:prstGeom>
          <a:noFill/>
        </p:spPr>
        <p:txBody>
          <a:bodyPr wrap="square" rtlCol="0">
            <a:spAutoFit/>
          </a:bodyPr>
          <a:lstStyle/>
          <a:p>
            <a:r>
              <a:rPr lang="en-IN" dirty="0">
                <a:solidFill>
                  <a:srgbClr val="647587"/>
                </a:solidFill>
              </a:rPr>
              <a:t>________</a:t>
            </a:r>
          </a:p>
        </p:txBody>
      </p:sp>
      <p:sp>
        <p:nvSpPr>
          <p:cNvPr id="55" name="TextBox 54">
            <a:extLst>
              <a:ext uri="{FF2B5EF4-FFF2-40B4-BE49-F238E27FC236}">
                <a16:creationId xmlns:a16="http://schemas.microsoft.com/office/drawing/2014/main" id="{B707535D-0F91-A374-8271-3C5F16E781C2}"/>
              </a:ext>
            </a:extLst>
          </p:cNvPr>
          <p:cNvSpPr txBox="1"/>
          <p:nvPr/>
        </p:nvSpPr>
        <p:spPr>
          <a:xfrm>
            <a:off x="292329" y="1624329"/>
            <a:ext cx="1911604" cy="369332"/>
          </a:xfrm>
          <a:prstGeom prst="rect">
            <a:avLst/>
          </a:prstGeom>
          <a:noFill/>
        </p:spPr>
        <p:txBody>
          <a:bodyPr wrap="square" rtlCol="0">
            <a:spAutoFit/>
          </a:bodyPr>
          <a:lstStyle/>
          <a:p>
            <a:r>
              <a:rPr lang="en-IN" dirty="0">
                <a:solidFill>
                  <a:srgbClr val="647587"/>
                </a:solidFill>
              </a:rPr>
              <a:t>_______ _______</a:t>
            </a:r>
          </a:p>
        </p:txBody>
      </p:sp>
      <p:sp>
        <p:nvSpPr>
          <p:cNvPr id="56" name="TextBox 55">
            <a:extLst>
              <a:ext uri="{FF2B5EF4-FFF2-40B4-BE49-F238E27FC236}">
                <a16:creationId xmlns:a16="http://schemas.microsoft.com/office/drawing/2014/main" id="{ED284139-CEBF-9C7D-C294-E5518BEC82A2}"/>
              </a:ext>
            </a:extLst>
          </p:cNvPr>
          <p:cNvSpPr txBox="1"/>
          <p:nvPr/>
        </p:nvSpPr>
        <p:spPr>
          <a:xfrm>
            <a:off x="317729" y="3341369"/>
            <a:ext cx="1582191" cy="369332"/>
          </a:xfrm>
          <a:prstGeom prst="rect">
            <a:avLst/>
          </a:prstGeom>
          <a:noFill/>
        </p:spPr>
        <p:txBody>
          <a:bodyPr wrap="square" rtlCol="0">
            <a:spAutoFit/>
          </a:bodyPr>
          <a:lstStyle/>
          <a:p>
            <a:r>
              <a:rPr lang="en-IN" dirty="0">
                <a:solidFill>
                  <a:srgbClr val="647587"/>
                </a:solidFill>
              </a:rPr>
              <a:t>______</a:t>
            </a:r>
          </a:p>
        </p:txBody>
      </p:sp>
      <p:sp>
        <p:nvSpPr>
          <p:cNvPr id="57" name="TextBox 56">
            <a:extLst>
              <a:ext uri="{FF2B5EF4-FFF2-40B4-BE49-F238E27FC236}">
                <a16:creationId xmlns:a16="http://schemas.microsoft.com/office/drawing/2014/main" id="{DF41C6F8-3244-9DF5-468E-BD62340B3BDC}"/>
              </a:ext>
            </a:extLst>
          </p:cNvPr>
          <p:cNvSpPr txBox="1"/>
          <p:nvPr/>
        </p:nvSpPr>
        <p:spPr>
          <a:xfrm>
            <a:off x="292329" y="5955009"/>
            <a:ext cx="1693951" cy="369332"/>
          </a:xfrm>
          <a:prstGeom prst="rect">
            <a:avLst/>
          </a:prstGeom>
          <a:noFill/>
        </p:spPr>
        <p:txBody>
          <a:bodyPr wrap="square" rtlCol="0">
            <a:spAutoFit/>
          </a:bodyPr>
          <a:lstStyle/>
          <a:p>
            <a:r>
              <a:rPr lang="en-IN" dirty="0">
                <a:solidFill>
                  <a:srgbClr val="647587"/>
                </a:solidFill>
              </a:rPr>
              <a:t>_______</a:t>
            </a:r>
          </a:p>
        </p:txBody>
      </p:sp>
      <p:sp>
        <p:nvSpPr>
          <p:cNvPr id="58" name="TextBox 57">
            <a:extLst>
              <a:ext uri="{FF2B5EF4-FFF2-40B4-BE49-F238E27FC236}">
                <a16:creationId xmlns:a16="http://schemas.microsoft.com/office/drawing/2014/main" id="{5C6EC2B8-5288-66BB-2669-7C31F9850716}"/>
              </a:ext>
            </a:extLst>
          </p:cNvPr>
          <p:cNvSpPr txBox="1"/>
          <p:nvPr/>
        </p:nvSpPr>
        <p:spPr>
          <a:xfrm>
            <a:off x="268960" y="7429244"/>
            <a:ext cx="1582191" cy="369332"/>
          </a:xfrm>
          <a:prstGeom prst="rect">
            <a:avLst/>
          </a:prstGeom>
          <a:noFill/>
        </p:spPr>
        <p:txBody>
          <a:bodyPr wrap="square" rtlCol="0">
            <a:spAutoFit/>
          </a:bodyPr>
          <a:lstStyle/>
          <a:p>
            <a:r>
              <a:rPr lang="en-IN" dirty="0">
                <a:solidFill>
                  <a:srgbClr val="647587"/>
                </a:solidFill>
              </a:rPr>
              <a:t>___________</a:t>
            </a:r>
          </a:p>
        </p:txBody>
      </p:sp>
      <p:cxnSp>
        <p:nvCxnSpPr>
          <p:cNvPr id="62" name="Straight Connector 61">
            <a:extLst>
              <a:ext uri="{FF2B5EF4-FFF2-40B4-BE49-F238E27FC236}">
                <a16:creationId xmlns:a16="http://schemas.microsoft.com/office/drawing/2014/main" id="{D3E3042F-ABFE-D0B3-69CA-16DCDD7B9BB1}"/>
              </a:ext>
            </a:extLst>
          </p:cNvPr>
          <p:cNvCxnSpPr>
            <a:cxnSpLocks/>
          </p:cNvCxnSpPr>
          <p:nvPr/>
        </p:nvCxnSpPr>
        <p:spPr>
          <a:xfrm>
            <a:off x="301879" y="5901689"/>
            <a:ext cx="4044569" cy="34110"/>
          </a:xfrm>
          <a:prstGeom prst="line">
            <a:avLst/>
          </a:prstGeom>
          <a:ln>
            <a:solidFill>
              <a:srgbClr val="293A4A"/>
            </a:solidFill>
          </a:ln>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043A2C54-7B9D-D1D6-8F6E-1DDC5B96D42D}"/>
              </a:ext>
            </a:extLst>
          </p:cNvPr>
          <p:cNvCxnSpPr>
            <a:cxnSpLocks/>
          </p:cNvCxnSpPr>
          <p:nvPr/>
        </p:nvCxnSpPr>
        <p:spPr>
          <a:xfrm>
            <a:off x="289687" y="7389113"/>
            <a:ext cx="4044569" cy="34110"/>
          </a:xfrm>
          <a:prstGeom prst="line">
            <a:avLst/>
          </a:prstGeom>
          <a:ln>
            <a:solidFill>
              <a:srgbClr val="293A4A"/>
            </a:solidFill>
          </a:ln>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6A4A05E1-4375-3033-0CDD-D9C17BB2A436}"/>
              </a:ext>
            </a:extLst>
          </p:cNvPr>
          <p:cNvCxnSpPr>
            <a:cxnSpLocks/>
          </p:cNvCxnSpPr>
          <p:nvPr/>
        </p:nvCxnSpPr>
        <p:spPr>
          <a:xfrm>
            <a:off x="312547" y="8425433"/>
            <a:ext cx="4044569" cy="34110"/>
          </a:xfrm>
          <a:prstGeom prst="line">
            <a:avLst/>
          </a:prstGeom>
          <a:ln>
            <a:solidFill>
              <a:srgbClr val="293A4A"/>
            </a:solidFill>
          </a:ln>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00DABF9C-3346-14F5-064A-D2B7DAC2C80D}"/>
              </a:ext>
            </a:extLst>
          </p:cNvPr>
          <p:cNvCxnSpPr>
            <a:cxnSpLocks/>
          </p:cNvCxnSpPr>
          <p:nvPr/>
        </p:nvCxnSpPr>
        <p:spPr>
          <a:xfrm>
            <a:off x="4724629" y="6714563"/>
            <a:ext cx="1697507" cy="0"/>
          </a:xfrm>
          <a:prstGeom prst="line">
            <a:avLst/>
          </a:prstGeom>
          <a:ln>
            <a:solidFill>
              <a:srgbClr val="293A4A"/>
            </a:solidFill>
          </a:ln>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879C4A8C-DB0F-027A-74D8-733F5401AB48}"/>
              </a:ext>
            </a:extLst>
          </p:cNvPr>
          <p:cNvCxnSpPr>
            <a:cxnSpLocks/>
          </p:cNvCxnSpPr>
          <p:nvPr/>
        </p:nvCxnSpPr>
        <p:spPr>
          <a:xfrm>
            <a:off x="4709389" y="7834703"/>
            <a:ext cx="1697507" cy="0"/>
          </a:xfrm>
          <a:prstGeom prst="line">
            <a:avLst/>
          </a:prstGeom>
          <a:ln>
            <a:solidFill>
              <a:srgbClr val="293A4A"/>
            </a:solidFill>
          </a:ln>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01F47156-FCB5-CE55-823A-9A430947D3D4}"/>
              </a:ext>
            </a:extLst>
          </p:cNvPr>
          <p:cNvCxnSpPr>
            <a:cxnSpLocks/>
          </p:cNvCxnSpPr>
          <p:nvPr/>
        </p:nvCxnSpPr>
        <p:spPr>
          <a:xfrm>
            <a:off x="4717009" y="8817683"/>
            <a:ext cx="1697507" cy="0"/>
          </a:xfrm>
          <a:prstGeom prst="line">
            <a:avLst/>
          </a:prstGeom>
          <a:ln>
            <a:solidFill>
              <a:srgbClr val="293A4A"/>
            </a:solidFill>
          </a:ln>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45477490-EAFD-7FB0-CFCA-B9841DC9E9B8}"/>
              </a:ext>
            </a:extLst>
          </p:cNvPr>
          <p:cNvCxnSpPr>
            <a:cxnSpLocks/>
          </p:cNvCxnSpPr>
          <p:nvPr/>
        </p:nvCxnSpPr>
        <p:spPr>
          <a:xfrm>
            <a:off x="4724629" y="5868743"/>
            <a:ext cx="1697507" cy="0"/>
          </a:xfrm>
          <a:prstGeom prst="line">
            <a:avLst/>
          </a:prstGeom>
          <a:ln>
            <a:solidFill>
              <a:srgbClr val="293A4A"/>
            </a:solidFill>
          </a:ln>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2" name="TextBox 71">
            <a:extLst>
              <a:ext uri="{FF2B5EF4-FFF2-40B4-BE49-F238E27FC236}">
                <a16:creationId xmlns:a16="http://schemas.microsoft.com/office/drawing/2014/main" id="{873CC41D-B2C7-37D0-28B2-7F42D83C98C7}"/>
              </a:ext>
            </a:extLst>
          </p:cNvPr>
          <p:cNvSpPr txBox="1"/>
          <p:nvPr/>
        </p:nvSpPr>
        <p:spPr>
          <a:xfrm>
            <a:off x="287086" y="8467964"/>
            <a:ext cx="4044823" cy="1290225"/>
          </a:xfrm>
          <a:prstGeom prst="rect">
            <a:avLst/>
          </a:prstGeom>
          <a:noFill/>
        </p:spPr>
        <p:txBody>
          <a:bodyPr wrap="square" rtlCol="0">
            <a:spAutoFit/>
          </a:bodyPr>
          <a:lstStyle/>
          <a:p>
            <a:pPr>
              <a:lnSpc>
                <a:spcPct val="150000"/>
              </a:lnSpc>
            </a:pPr>
            <a:r>
              <a:rPr lang="en-IN" sz="1200" dirty="0">
                <a:solidFill>
                  <a:srgbClr val="647587"/>
                </a:solidFill>
                <a:latin typeface="Times New Roman" panose="02020603050405020304" pitchFamily="18" charset="0"/>
                <a:cs typeface="Times New Roman" panose="02020603050405020304" pitchFamily="18" charset="0"/>
              </a:rPr>
              <a:t>CERTIFICATIONS</a:t>
            </a:r>
          </a:p>
          <a:p>
            <a:pPr marL="171450" indent="-171450">
              <a:buFont typeface="Arial" panose="020B0604020202020204" pitchFamily="34" charset="0"/>
              <a:buChar char="•"/>
            </a:pPr>
            <a:r>
              <a:rPr lang="en-US" sz="1100" dirty="0">
                <a:solidFill>
                  <a:schemeClr val="bg1"/>
                </a:solidFill>
                <a:latin typeface="Times New Roman" panose="02020603050405020304" pitchFamily="18" charset="0"/>
                <a:cs typeface="Times New Roman" panose="02020603050405020304" pitchFamily="18" charset="0"/>
              </a:rPr>
              <a:t>Smart Grid: Basics to Advanced Technologies </a:t>
            </a:r>
            <a:r>
              <a:rPr lang="en-US" sz="800" dirty="0">
                <a:solidFill>
                  <a:schemeClr val="bg1"/>
                </a:solidFill>
                <a:latin typeface="Times New Roman" panose="02020603050405020304" pitchFamily="18" charset="0"/>
                <a:cs typeface="Times New Roman" panose="02020603050405020304" pitchFamily="18" charset="0"/>
              </a:rPr>
              <a:t>(NPTEL)</a:t>
            </a:r>
          </a:p>
          <a:p>
            <a:pPr marL="171450" indent="-171450">
              <a:buFont typeface="Arial" panose="020B0604020202020204" pitchFamily="34" charset="0"/>
              <a:buChar char="•"/>
            </a:pPr>
            <a:r>
              <a:rPr lang="en-US" sz="1100" dirty="0">
                <a:solidFill>
                  <a:schemeClr val="bg1"/>
                </a:solidFill>
                <a:latin typeface="Times New Roman" panose="02020603050405020304" pitchFamily="18" charset="0"/>
                <a:cs typeface="Times New Roman" panose="02020603050405020304" pitchFamily="18" charset="0"/>
              </a:rPr>
              <a:t>Introduction to Industry 4.0 and Industrial Internet of Things </a:t>
            </a:r>
            <a:r>
              <a:rPr lang="en-US" sz="800" dirty="0">
                <a:solidFill>
                  <a:schemeClr val="bg1"/>
                </a:solidFill>
                <a:latin typeface="Times New Roman" panose="02020603050405020304" pitchFamily="18" charset="0"/>
                <a:cs typeface="Times New Roman" panose="02020603050405020304" pitchFamily="18" charset="0"/>
              </a:rPr>
              <a:t>(NPTEL)</a:t>
            </a:r>
          </a:p>
          <a:p>
            <a:pPr marL="171450" indent="-171450">
              <a:buFont typeface="Arial" panose="020B0604020202020204" pitchFamily="34" charset="0"/>
              <a:buChar char="•"/>
            </a:pPr>
            <a:r>
              <a:rPr lang="en-US" sz="1100" dirty="0">
                <a:solidFill>
                  <a:schemeClr val="bg1"/>
                </a:solidFill>
                <a:latin typeface="Times New Roman" panose="02020603050405020304" pitchFamily="18" charset="0"/>
                <a:cs typeface="Times New Roman" panose="02020603050405020304" pitchFamily="18" charset="0"/>
              </a:rPr>
              <a:t>Computer Hardware </a:t>
            </a:r>
            <a:r>
              <a:rPr lang="en-US" sz="800" dirty="0">
                <a:solidFill>
                  <a:schemeClr val="bg1"/>
                </a:solidFill>
                <a:latin typeface="Times New Roman" panose="02020603050405020304" pitchFamily="18" charset="0"/>
                <a:cs typeface="Times New Roman" panose="02020603050405020304" pitchFamily="18" charset="0"/>
              </a:rPr>
              <a:t>(NAGA)</a:t>
            </a:r>
          </a:p>
          <a:p>
            <a:pPr>
              <a:lnSpc>
                <a:spcPct val="150000"/>
              </a:lnSpc>
            </a:pPr>
            <a:endParaRPr lang="en-IN" sz="1200" dirty="0">
              <a:solidFill>
                <a:srgbClr val="647587"/>
              </a:solidFill>
              <a:latin typeface="Times New Roman" panose="02020603050405020304" pitchFamily="18" charset="0"/>
              <a:cs typeface="Times New Roman" panose="02020603050405020304" pitchFamily="18" charset="0"/>
            </a:endParaRPr>
          </a:p>
        </p:txBody>
      </p:sp>
      <p:sp>
        <p:nvSpPr>
          <p:cNvPr id="73" name="TextBox 72">
            <a:extLst>
              <a:ext uri="{FF2B5EF4-FFF2-40B4-BE49-F238E27FC236}">
                <a16:creationId xmlns:a16="http://schemas.microsoft.com/office/drawing/2014/main" id="{7D07A628-61DC-3B15-F6D7-A74AAC0D505A}"/>
              </a:ext>
            </a:extLst>
          </p:cNvPr>
          <p:cNvSpPr txBox="1"/>
          <p:nvPr/>
        </p:nvSpPr>
        <p:spPr>
          <a:xfrm>
            <a:off x="278104" y="8480804"/>
            <a:ext cx="1582191" cy="369332"/>
          </a:xfrm>
          <a:prstGeom prst="rect">
            <a:avLst/>
          </a:prstGeom>
          <a:noFill/>
        </p:spPr>
        <p:txBody>
          <a:bodyPr wrap="square" rtlCol="0">
            <a:spAutoFit/>
          </a:bodyPr>
          <a:lstStyle/>
          <a:p>
            <a:r>
              <a:rPr lang="en-IN" dirty="0">
                <a:solidFill>
                  <a:srgbClr val="647587"/>
                </a:solidFill>
              </a:rPr>
              <a:t>___________</a:t>
            </a:r>
          </a:p>
        </p:txBody>
      </p:sp>
      <p:sp>
        <p:nvSpPr>
          <p:cNvPr id="74" name="Isosceles Triangle 73">
            <a:extLst>
              <a:ext uri="{FF2B5EF4-FFF2-40B4-BE49-F238E27FC236}">
                <a16:creationId xmlns:a16="http://schemas.microsoft.com/office/drawing/2014/main" id="{23D0BD38-BAEE-D91A-9792-9DD5DBA79BAC}"/>
              </a:ext>
            </a:extLst>
          </p:cNvPr>
          <p:cNvSpPr/>
          <p:nvPr/>
        </p:nvSpPr>
        <p:spPr>
          <a:xfrm>
            <a:off x="53315" y="142063"/>
            <a:ext cx="1182624" cy="386766"/>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Isosceles Triangle 74">
            <a:extLst>
              <a:ext uri="{FF2B5EF4-FFF2-40B4-BE49-F238E27FC236}">
                <a16:creationId xmlns:a16="http://schemas.microsoft.com/office/drawing/2014/main" id="{8E55A4E2-CCEF-EFF7-61CF-482AD25393B2}"/>
              </a:ext>
            </a:extLst>
          </p:cNvPr>
          <p:cNvSpPr/>
          <p:nvPr/>
        </p:nvSpPr>
        <p:spPr>
          <a:xfrm rot="10800000">
            <a:off x="47219" y="1117423"/>
            <a:ext cx="1182624" cy="386766"/>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Rectangle 75">
            <a:extLst>
              <a:ext uri="{FF2B5EF4-FFF2-40B4-BE49-F238E27FC236}">
                <a16:creationId xmlns:a16="http://schemas.microsoft.com/office/drawing/2014/main" id="{10C13C1F-F3F1-702B-2F64-99209DDCCA25}"/>
              </a:ext>
            </a:extLst>
          </p:cNvPr>
          <p:cNvSpPr/>
          <p:nvPr/>
        </p:nvSpPr>
        <p:spPr>
          <a:xfrm>
            <a:off x="47217" y="528828"/>
            <a:ext cx="1182625" cy="5876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60DC1E6A-95DE-31D7-A1FA-73D08203BB7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1280" y="179568"/>
            <a:ext cx="1133322" cy="1291219"/>
          </a:xfrm>
          <a:prstGeom prst="rect">
            <a:avLst/>
          </a:prstGeom>
        </p:spPr>
      </p:pic>
      <p:pic>
        <p:nvPicPr>
          <p:cNvPr id="5" name="Graphic 4" descr="Marker with solid fill">
            <a:extLst>
              <a:ext uri="{FF2B5EF4-FFF2-40B4-BE49-F238E27FC236}">
                <a16:creationId xmlns:a16="http://schemas.microsoft.com/office/drawing/2014/main" id="{3F2F6882-75DC-A411-B47A-5BC0C440974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569056" y="2251656"/>
            <a:ext cx="167647" cy="167647"/>
          </a:xfrm>
          <a:prstGeom prst="rect">
            <a:avLst/>
          </a:prstGeom>
        </p:spPr>
      </p:pic>
      <p:pic>
        <p:nvPicPr>
          <p:cNvPr id="11" name="Graphic 10" descr="Daily calendar with solid fill">
            <a:extLst>
              <a:ext uri="{FF2B5EF4-FFF2-40B4-BE49-F238E27FC236}">
                <a16:creationId xmlns:a16="http://schemas.microsoft.com/office/drawing/2014/main" id="{F4477DB0-B194-4F7B-A022-703E1CDA5DD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958080" y="2249350"/>
            <a:ext cx="167646" cy="167646"/>
          </a:xfrm>
          <a:prstGeom prst="rect">
            <a:avLst/>
          </a:prstGeom>
        </p:spPr>
      </p:pic>
      <p:pic>
        <p:nvPicPr>
          <p:cNvPr id="22" name="Graphic 21" descr="Marker with solid fill">
            <a:extLst>
              <a:ext uri="{FF2B5EF4-FFF2-40B4-BE49-F238E27FC236}">
                <a16:creationId xmlns:a16="http://schemas.microsoft.com/office/drawing/2014/main" id="{F38BD4E9-DF0A-67C5-7F10-A440C625ACF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574136" y="2856176"/>
            <a:ext cx="167647" cy="167647"/>
          </a:xfrm>
          <a:prstGeom prst="rect">
            <a:avLst/>
          </a:prstGeom>
        </p:spPr>
      </p:pic>
      <p:pic>
        <p:nvPicPr>
          <p:cNvPr id="26" name="Graphic 25" descr="Daily calendar with solid fill">
            <a:extLst>
              <a:ext uri="{FF2B5EF4-FFF2-40B4-BE49-F238E27FC236}">
                <a16:creationId xmlns:a16="http://schemas.microsoft.com/office/drawing/2014/main" id="{46A234FC-1000-D331-5C50-EA3FFC1FBCA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963160" y="2853870"/>
            <a:ext cx="167646" cy="167646"/>
          </a:xfrm>
          <a:prstGeom prst="rect">
            <a:avLst/>
          </a:prstGeom>
        </p:spPr>
      </p:pic>
      <p:pic>
        <p:nvPicPr>
          <p:cNvPr id="28" name="Graphic 27" descr="Marker with solid fill">
            <a:extLst>
              <a:ext uri="{FF2B5EF4-FFF2-40B4-BE49-F238E27FC236}">
                <a16:creationId xmlns:a16="http://schemas.microsoft.com/office/drawing/2014/main" id="{758C174E-37DB-E873-4F79-C68258A8B5C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574136" y="3475936"/>
            <a:ext cx="167647" cy="167647"/>
          </a:xfrm>
          <a:prstGeom prst="rect">
            <a:avLst/>
          </a:prstGeom>
        </p:spPr>
      </p:pic>
      <p:pic>
        <p:nvPicPr>
          <p:cNvPr id="30" name="Graphic 29" descr="Daily calendar with solid fill">
            <a:extLst>
              <a:ext uri="{FF2B5EF4-FFF2-40B4-BE49-F238E27FC236}">
                <a16:creationId xmlns:a16="http://schemas.microsoft.com/office/drawing/2014/main" id="{B3BDCB27-04AC-BF91-AB23-5908B7B78EF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963160" y="3473630"/>
            <a:ext cx="167646" cy="167646"/>
          </a:xfrm>
          <a:prstGeom prst="rect">
            <a:avLst/>
          </a:prstGeom>
        </p:spPr>
      </p:pic>
      <p:sp>
        <p:nvSpPr>
          <p:cNvPr id="32" name="TextBox 31">
            <a:extLst>
              <a:ext uri="{FF2B5EF4-FFF2-40B4-BE49-F238E27FC236}">
                <a16:creationId xmlns:a16="http://schemas.microsoft.com/office/drawing/2014/main" id="{A0A10A24-4E1F-2791-E754-0119649A2CAB}"/>
              </a:ext>
            </a:extLst>
          </p:cNvPr>
          <p:cNvSpPr txBox="1"/>
          <p:nvPr/>
        </p:nvSpPr>
        <p:spPr>
          <a:xfrm>
            <a:off x="6025642" y="2096950"/>
            <a:ext cx="516488" cy="184666"/>
          </a:xfrm>
          <a:prstGeom prst="rect">
            <a:avLst/>
          </a:prstGeom>
          <a:noFill/>
        </p:spPr>
        <p:txBody>
          <a:bodyPr wrap="none" rtlCol="0">
            <a:spAutoFit/>
          </a:bodyPr>
          <a:lstStyle/>
          <a:p>
            <a:r>
              <a:rPr lang="en-IN" sz="600" i="1" dirty="0">
                <a:solidFill>
                  <a:schemeClr val="bg1"/>
                </a:solidFill>
              </a:rPr>
              <a:t>CGPA-7.39</a:t>
            </a:r>
          </a:p>
        </p:txBody>
      </p:sp>
      <p:pic>
        <p:nvPicPr>
          <p:cNvPr id="34" name="Graphic 33" descr="Daily calendar with solid fill">
            <a:extLst>
              <a:ext uri="{FF2B5EF4-FFF2-40B4-BE49-F238E27FC236}">
                <a16:creationId xmlns:a16="http://schemas.microsoft.com/office/drawing/2014/main" id="{38F2EE40-94A7-8C40-BD0F-9A454623038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413000" y="3697150"/>
            <a:ext cx="167646" cy="167646"/>
          </a:xfrm>
          <a:prstGeom prst="rect">
            <a:avLst/>
          </a:prstGeom>
        </p:spPr>
      </p:pic>
      <p:pic>
        <p:nvPicPr>
          <p:cNvPr id="35" name="Graphic 34" descr="Daily calendar with solid fill">
            <a:extLst>
              <a:ext uri="{FF2B5EF4-FFF2-40B4-BE49-F238E27FC236}">
                <a16:creationId xmlns:a16="http://schemas.microsoft.com/office/drawing/2014/main" id="{B12A8E6A-49D0-1BF9-F789-846E4F2463C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701800" y="4713150"/>
            <a:ext cx="167646" cy="167646"/>
          </a:xfrm>
          <a:prstGeom prst="rect">
            <a:avLst/>
          </a:prstGeom>
        </p:spPr>
      </p:pic>
      <p:pic>
        <p:nvPicPr>
          <p:cNvPr id="36" name="Graphic 35" descr="Marker with solid fill">
            <a:extLst>
              <a:ext uri="{FF2B5EF4-FFF2-40B4-BE49-F238E27FC236}">
                <a16:creationId xmlns:a16="http://schemas.microsoft.com/office/drawing/2014/main" id="{FF42B57B-A3D2-8D19-F0CB-99E31D0C2EE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145136" y="6315656"/>
            <a:ext cx="167647" cy="167647"/>
          </a:xfrm>
          <a:prstGeom prst="rect">
            <a:avLst/>
          </a:prstGeom>
        </p:spPr>
      </p:pic>
    </p:spTree>
    <p:extLst>
      <p:ext uri="{BB962C8B-B14F-4D97-AF65-F5344CB8AC3E}">
        <p14:creationId xmlns:p14="http://schemas.microsoft.com/office/powerpoint/2010/main" val="107400080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297</TotalTime>
  <Words>421</Words>
  <Application>Microsoft Office PowerPoint</Application>
  <PresentationFormat>A4 Paper (210x297 mm)</PresentationFormat>
  <Paragraphs>68</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Dhanush kumar</dc:creator>
  <cp:lastModifiedBy>Dhanush kumar</cp:lastModifiedBy>
  <cp:revision>8</cp:revision>
  <dcterms:created xsi:type="dcterms:W3CDTF">2025-06-26T02:58:13Z</dcterms:created>
  <dcterms:modified xsi:type="dcterms:W3CDTF">2025-06-29T06:16:29Z</dcterms:modified>
</cp:coreProperties>
</file>